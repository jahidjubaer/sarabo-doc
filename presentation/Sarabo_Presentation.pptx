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Assalamu alaikum. I am Jahid Hasan. My project, supervised by Shrabanti Chowdhury, is Sarabo, an electronics repair service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[0:15-0:40] Customers hand over a phone without knowing the price or where it is. Technicians find work only by word of mouth. Whoever runs the service cannot see stuck jobs, and refunds are done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[0:40-1:05] Sarabo turns this into one tracked, priced workflow for customers, technicians and admins. 45 repair services across 8 device types, priced in taka, and it is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[1:05-1:45] One: the customer describes the problem, even in Banglish, and AI fills the form. Two: local technicians with the right skill send offers. Three: the customer pays a small inspection fee to book. Four: an itemised quote after inspection. Five: the customer pays only the rest. Six: hand-over, the technician gets 90 percent, and a 30-day warranty starts.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[1:45-2:20] This is the data model in MongoDB. A user creates many repair requests and can become a technician. Each request is priced by one service, gets many offers, and has its payments, one review and at most two warranty claims. The quote and inspection are stored inside the request. The crow's foot marks the 'many' 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[2:20-3:00] Offers are ranked using five things Sarabo already stores, and the reasons show as tags. The customer pays the inspection fee to book; after inspection the quote shows exactly what is left to pay.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[3:00-3:35] Every repair has a 30-day warranty: the same technician re-inspects free, and a covered fault is repaired again or refunded. I also made sure no request can wait forever: every waiting state has a deadline, an automatic step or an admin alert.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[3:35-4:05] Gemini helps in four places, but AI only suggests and people decide. It never sets a price, every answer is checked against live data, no personal data is sent, and usage is limited.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[4:05-4:35] A React app talks to an Express API on Vercel, next to the MongoDB database. Because it handles money, the server checks role and state for every action, money steps run in database transactions, and payments and bookings happen exactly once, even under races.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[4:35-4:55] All server tests and all 58 browser tests pass, and the system is live; all twelve objectives were met. Limits: Stripe is in test mode, payouts are manual, and there are no real users yet. Next: a local payment gateway and a mobile 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[4:55-5:00] Thank you. Now let me show you Rahim's repair,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22960" y="731520"/>
            <a:ext cx="2057400" cy="822960"/>
          </a:xfrm>
          <a:prstGeom prst="rect">
            <a:avLst/>
          </a:prstGeom>
        </p:spPr>
      </p:pic>
      <p:sp>
        <p:nvSpPr>
          <p:cNvPr id="4" name="TextBox 3"/>
          <p:cNvSpPr txBox="1"/>
          <p:nvPr/>
        </p:nvSpPr>
        <p:spPr>
          <a:xfrm>
            <a:off x="822960" y="1920240"/>
            <a:ext cx="10972800" cy="914400"/>
          </a:xfrm>
          <a:prstGeom prst="rect">
            <a:avLst/>
          </a:prstGeom>
          <a:noFill/>
        </p:spPr>
        <p:txBody>
          <a:bodyPr wrap="square" lIns="0" rIns="0" tIns="0" bIns="0" anchor="t">
            <a:spAutoFit/>
          </a:bodyPr>
          <a:lstStyle/>
          <a:p>
            <a:pPr algn="l">
              <a:lnSpc>
                <a:spcPct val="110000"/>
              </a:lnSpc>
            </a:pPr>
            <a:r>
              <a:rPr sz="4400" b="1">
                <a:solidFill>
                  <a:srgbClr val="0F2430"/>
                </a:solidFill>
                <a:latin typeface="Segoe UI"/>
              </a:rPr>
              <a:t>Repair your device with confidence.</a:t>
            </a:r>
          </a:p>
        </p:txBody>
      </p:sp>
      <p:sp>
        <p:nvSpPr>
          <p:cNvPr id="5" name="TextBox 4"/>
          <p:cNvSpPr txBox="1"/>
          <p:nvPr/>
        </p:nvSpPr>
        <p:spPr>
          <a:xfrm>
            <a:off x="822960" y="2926080"/>
            <a:ext cx="10515600" cy="548640"/>
          </a:xfrm>
          <a:prstGeom prst="rect">
            <a:avLst/>
          </a:prstGeom>
          <a:noFill/>
        </p:spPr>
        <p:txBody>
          <a:bodyPr wrap="square" lIns="0" rIns="0" tIns="0" bIns="0" anchor="t">
            <a:spAutoFit/>
          </a:bodyPr>
          <a:lstStyle/>
          <a:p>
            <a:pPr algn="l">
              <a:lnSpc>
                <a:spcPct val="110000"/>
              </a:lnSpc>
            </a:pPr>
            <a:r>
              <a:rPr sz="2600" b="0">
                <a:solidFill>
                  <a:srgbClr val="1E6F63"/>
                </a:solidFill>
                <a:latin typeface="Segoe UI"/>
              </a:rPr>
              <a:t>Sarabo: An Electronics Repair Service Management Platform</a:t>
            </a:r>
          </a:p>
        </p:txBody>
      </p:sp>
      <p:sp>
        <p:nvSpPr>
          <p:cNvPr id="6" name="TextBox 5"/>
          <p:cNvSpPr txBox="1"/>
          <p:nvPr/>
        </p:nvSpPr>
        <p:spPr>
          <a:xfrm>
            <a:off x="822960" y="4114800"/>
            <a:ext cx="6766560" cy="2011680"/>
          </a:xfrm>
          <a:prstGeom prst="rect">
            <a:avLst/>
          </a:prstGeom>
          <a:noFill/>
        </p:spPr>
        <p:txBody>
          <a:bodyPr wrap="square" lIns="0" rIns="0" tIns="0" bIns="0" anchor="t">
            <a:spAutoFit/>
          </a:bodyPr>
          <a:lstStyle/>
          <a:p>
            <a:pPr algn="l">
              <a:lnSpc>
                <a:spcPct val="125000"/>
              </a:lnSpc>
            </a:pPr>
            <a:r>
              <a:rPr sz="2600" b="1">
                <a:solidFill>
                  <a:srgbClr val="0F2430"/>
                </a:solidFill>
                <a:latin typeface="Segoe UI"/>
              </a:rPr>
              <a:t>Jahid Hasan</a:t>
            </a:r>
          </a:p>
          <a:p>
            <a:pPr algn="l">
              <a:lnSpc>
                <a:spcPct val="125000"/>
              </a:lnSpc>
            </a:pPr>
            <a:r>
              <a:rPr sz="2000" b="0">
                <a:solidFill>
                  <a:srgbClr val="45555D"/>
                </a:solidFill>
                <a:latin typeface="Segoe UI"/>
              </a:rPr>
              <a:t>ID 222-115-116  ·  Batch 57 (C)</a:t>
            </a:r>
          </a:p>
          <a:p>
            <a:pPr algn="l">
              <a:lnSpc>
                <a:spcPct val="125000"/>
              </a:lnSpc>
            </a:pPr>
            <a:r>
              <a:rPr sz="2000" b="0">
                <a:solidFill>
                  <a:srgbClr val="45555D"/>
                </a:solidFill>
                <a:latin typeface="Segoe UI"/>
              </a:rPr>
              <a:t>Supervisor: Shrabanti Chowdhury, Senior Lecturer</a:t>
            </a:r>
          </a:p>
          <a:p>
            <a:pPr algn="l">
              <a:lnSpc>
                <a:spcPct val="125000"/>
              </a:lnSpc>
            </a:pPr>
            <a:r>
              <a:rPr sz="2000" b="0">
                <a:solidFill>
                  <a:srgbClr val="45555D"/>
                </a:solidFill>
                <a:latin typeface="Segoe UI"/>
              </a:rPr>
              <a:t>Dept. of CSE, Metropolitan University, Sylhet</a:t>
            </a:r>
          </a:p>
        </p:txBody>
      </p:sp>
      <p:sp>
        <p:nvSpPr>
          <p:cNvPr id="7" name="Rounded Rectangle 6"/>
          <p:cNvSpPr/>
          <p:nvPr/>
        </p:nvSpPr>
        <p:spPr>
          <a:xfrm>
            <a:off x="8625535" y="4983481"/>
            <a:ext cx="2834640" cy="146304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trologo.png"/>
          <p:cNvPicPr>
            <a:picLocks noChangeAspect="1"/>
          </p:cNvPicPr>
          <p:nvPr/>
        </p:nvPicPr>
        <p:blipFill>
          <a:blip r:embed="rId3"/>
          <a:stretch>
            <a:fillRect/>
          </a:stretch>
        </p:blipFill>
        <p:spPr>
          <a:xfrm>
            <a:off x="8762695" y="5074920"/>
            <a:ext cx="2560320" cy="126609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THE PROBLEM</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Getting a device repaired is a leap of faith</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2/11</a:t>
            </a:r>
          </a:p>
        </p:txBody>
      </p:sp>
      <p:sp>
        <p:nvSpPr>
          <p:cNvPr id="5" name="Rounded Rectangle 4"/>
          <p:cNvSpPr/>
          <p:nvPr/>
        </p:nvSpPr>
        <p:spPr>
          <a:xfrm>
            <a:off x="640080" y="1828800"/>
            <a:ext cx="3483864" cy="324612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3483864" cy="128016"/>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94560"/>
            <a:ext cx="2843784" cy="548640"/>
          </a:xfrm>
          <a:prstGeom prst="rect">
            <a:avLst/>
          </a:prstGeom>
          <a:noFill/>
        </p:spPr>
        <p:txBody>
          <a:bodyPr wrap="square" lIns="0" rIns="0" tIns="0" bIns="0" anchor="t">
            <a:spAutoFit/>
          </a:bodyPr>
          <a:lstStyle/>
          <a:p>
            <a:pPr algn="l">
              <a:lnSpc>
                <a:spcPct val="110000"/>
              </a:lnSpc>
            </a:pPr>
            <a:r>
              <a:rPr sz="2800" b="1">
                <a:solidFill>
                  <a:srgbClr val="0F2430"/>
                </a:solidFill>
                <a:latin typeface="Segoe UI"/>
              </a:rPr>
              <a:t>Customers</a:t>
            </a:r>
          </a:p>
        </p:txBody>
      </p:sp>
      <p:sp>
        <p:nvSpPr>
          <p:cNvPr id="8" name="TextBox 7"/>
          <p:cNvSpPr txBox="1"/>
          <p:nvPr/>
        </p:nvSpPr>
        <p:spPr>
          <a:xfrm>
            <a:off x="960120" y="2971800"/>
            <a:ext cx="2935224" cy="201168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45555D"/>
                </a:solidFill>
                <a:latin typeface="Segoe UI"/>
              </a:rPr>
              <a:t>No price before hand-over</a:t>
            </a:r>
          </a:p>
          <a:p>
            <a:pPr marL="321310" indent="-321310">
              <a:lnSpc>
                <a:spcPct val="105000"/>
              </a:lnSpc>
              <a:spcAft>
                <a:spcPts val="1000"/>
              </a:spcAft>
              <a:buClr>
                <a:srgbClr val="F2B138"/>
              </a:buClr>
              <a:buSzPct val="100000"/>
              <a:buFont typeface="Arial"/>
              <a:buChar char="•"/>
            </a:pPr>
            <a:r>
              <a:rPr sz="2200" b="0">
                <a:solidFill>
                  <a:srgbClr val="45555D"/>
                </a:solidFill>
                <a:latin typeface="Segoe UI"/>
              </a:rPr>
              <a:t>No idea where the device is</a:t>
            </a:r>
          </a:p>
        </p:txBody>
      </p:sp>
      <p:sp>
        <p:nvSpPr>
          <p:cNvPr id="9" name="Rounded Rectangle 8"/>
          <p:cNvSpPr/>
          <p:nvPr/>
        </p:nvSpPr>
        <p:spPr>
          <a:xfrm>
            <a:off x="4352544" y="1828800"/>
            <a:ext cx="3483864" cy="324612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1828800"/>
            <a:ext cx="3483864" cy="128016"/>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4" y="2194560"/>
            <a:ext cx="2843784" cy="548640"/>
          </a:xfrm>
          <a:prstGeom prst="rect">
            <a:avLst/>
          </a:prstGeom>
          <a:noFill/>
        </p:spPr>
        <p:txBody>
          <a:bodyPr wrap="square" lIns="0" rIns="0" tIns="0" bIns="0" anchor="t">
            <a:spAutoFit/>
          </a:bodyPr>
          <a:lstStyle/>
          <a:p>
            <a:pPr algn="l">
              <a:lnSpc>
                <a:spcPct val="110000"/>
              </a:lnSpc>
            </a:pPr>
            <a:r>
              <a:rPr sz="2800" b="1">
                <a:solidFill>
                  <a:srgbClr val="0F2430"/>
                </a:solidFill>
                <a:latin typeface="Segoe UI"/>
              </a:rPr>
              <a:t>Technicians</a:t>
            </a:r>
          </a:p>
        </p:txBody>
      </p:sp>
      <p:sp>
        <p:nvSpPr>
          <p:cNvPr id="12" name="TextBox 11"/>
          <p:cNvSpPr txBox="1"/>
          <p:nvPr/>
        </p:nvSpPr>
        <p:spPr>
          <a:xfrm>
            <a:off x="4672584" y="2971800"/>
            <a:ext cx="2935224" cy="201168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45555D"/>
                </a:solidFill>
                <a:latin typeface="Segoe UI"/>
              </a:rPr>
              <a:t>Work only by word of mouth</a:t>
            </a:r>
          </a:p>
          <a:p>
            <a:pPr marL="321310" indent="-321310">
              <a:lnSpc>
                <a:spcPct val="105000"/>
              </a:lnSpc>
              <a:spcAft>
                <a:spcPts val="1000"/>
              </a:spcAft>
              <a:buClr>
                <a:srgbClr val="F2B138"/>
              </a:buClr>
              <a:buSzPct val="100000"/>
              <a:buFont typeface="Arial"/>
              <a:buChar char="•"/>
            </a:pPr>
            <a:r>
              <a:rPr sz="2200" b="0">
                <a:solidFill>
                  <a:srgbClr val="45555D"/>
                </a:solidFill>
                <a:latin typeface="Segoe UI"/>
              </a:rPr>
              <a:t>Payment is uncertain</a:t>
            </a:r>
          </a:p>
        </p:txBody>
      </p:sp>
      <p:sp>
        <p:nvSpPr>
          <p:cNvPr id="13" name="Rounded Rectangle 12"/>
          <p:cNvSpPr/>
          <p:nvPr/>
        </p:nvSpPr>
        <p:spPr>
          <a:xfrm>
            <a:off x="8065008" y="1828800"/>
            <a:ext cx="3483864" cy="324612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828800"/>
            <a:ext cx="3483864" cy="128016"/>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8" y="2194560"/>
            <a:ext cx="2843784" cy="548640"/>
          </a:xfrm>
          <a:prstGeom prst="rect">
            <a:avLst/>
          </a:prstGeom>
          <a:noFill/>
        </p:spPr>
        <p:txBody>
          <a:bodyPr wrap="square" lIns="0" rIns="0" tIns="0" bIns="0" anchor="t">
            <a:spAutoFit/>
          </a:bodyPr>
          <a:lstStyle/>
          <a:p>
            <a:pPr algn="l">
              <a:lnSpc>
                <a:spcPct val="110000"/>
              </a:lnSpc>
            </a:pPr>
            <a:r>
              <a:rPr sz="2800" b="1">
                <a:solidFill>
                  <a:srgbClr val="0F2430"/>
                </a:solidFill>
                <a:latin typeface="Segoe UI"/>
              </a:rPr>
              <a:t>The business</a:t>
            </a:r>
          </a:p>
        </p:txBody>
      </p:sp>
      <p:sp>
        <p:nvSpPr>
          <p:cNvPr id="16" name="TextBox 15"/>
          <p:cNvSpPr txBox="1"/>
          <p:nvPr/>
        </p:nvSpPr>
        <p:spPr>
          <a:xfrm>
            <a:off x="8385048" y="2971800"/>
            <a:ext cx="2935224" cy="201168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45555D"/>
                </a:solidFill>
                <a:latin typeface="Segoe UI"/>
              </a:rPr>
              <a:t>Stuck jobs are invisible</a:t>
            </a:r>
          </a:p>
          <a:p>
            <a:pPr marL="321310" indent="-321310">
              <a:lnSpc>
                <a:spcPct val="105000"/>
              </a:lnSpc>
              <a:spcAft>
                <a:spcPts val="1000"/>
              </a:spcAft>
              <a:buClr>
                <a:srgbClr val="F2B138"/>
              </a:buClr>
              <a:buSzPct val="100000"/>
              <a:buFont typeface="Arial"/>
              <a:buChar char="•"/>
            </a:pPr>
            <a:r>
              <a:rPr sz="2200" b="0">
                <a:solidFill>
                  <a:srgbClr val="45555D"/>
                </a:solidFill>
                <a:latin typeface="Segoe UI"/>
              </a:rPr>
              <a:t>Refunds done by hand</a:t>
            </a:r>
          </a:p>
        </p:txBody>
      </p:sp>
      <p:sp>
        <p:nvSpPr>
          <p:cNvPr id="17" name="Rounded Rectangle 16"/>
          <p:cNvSpPr/>
          <p:nvPr/>
        </p:nvSpPr>
        <p:spPr>
          <a:xfrm>
            <a:off x="640080" y="5349240"/>
            <a:ext cx="10908792" cy="77724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49240"/>
            <a:ext cx="10268712" cy="777240"/>
          </a:xfrm>
          <a:prstGeom prst="rect">
            <a:avLst/>
          </a:prstGeom>
          <a:noFill/>
        </p:spPr>
        <p:txBody>
          <a:bodyPr wrap="square" lIns="0" rIns="0" tIns="0" bIns="0" anchor="ctr">
            <a:spAutoFit/>
          </a:bodyPr>
          <a:lstStyle/>
          <a:p>
            <a:pPr algn="l">
              <a:lnSpc>
                <a:spcPct val="110000"/>
              </a:lnSpc>
            </a:pPr>
            <a:r>
              <a:rPr sz="2200" b="1">
                <a:solidFill>
                  <a:srgbClr val="FFFFFF"/>
                </a:solidFill>
                <a:latin typeface="Segoe UI"/>
              </a:rPr>
              <a:t>Result: low trust on both sides, and many repairs never happen.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THE SOLUTION</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One tracked, priced workflow for three roles</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3/11</a:t>
            </a:r>
          </a:p>
        </p:txBody>
      </p:sp>
      <p:sp>
        <p:nvSpPr>
          <p:cNvPr id="5" name="Rounded Rectangle 4"/>
          <p:cNvSpPr/>
          <p:nvPr/>
        </p:nvSpPr>
        <p:spPr>
          <a:xfrm>
            <a:off x="640080" y="1828800"/>
            <a:ext cx="5120640" cy="1051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128016" cy="1051560"/>
          </a:xfrm>
          <a:prstGeom prst="rect">
            <a:avLst/>
          </a:prstGeom>
          <a:solidFill>
            <a:srgbClr val="1E6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38528"/>
            <a:ext cx="4572000" cy="457200"/>
          </a:xfrm>
          <a:prstGeom prst="rect">
            <a:avLst/>
          </a:prstGeom>
          <a:noFill/>
        </p:spPr>
        <p:txBody>
          <a:bodyPr wrap="square" lIns="0" rIns="0" tIns="0" bIns="0" anchor="t">
            <a:spAutoFit/>
          </a:bodyPr>
          <a:lstStyle/>
          <a:p>
            <a:pPr algn="l">
              <a:lnSpc>
                <a:spcPct val="110000"/>
              </a:lnSpc>
            </a:pPr>
            <a:r>
              <a:rPr sz="2600" b="1">
                <a:solidFill>
                  <a:srgbClr val="0F2430"/>
                </a:solidFill>
                <a:latin typeface="Segoe UI"/>
              </a:rPr>
              <a:t>Customer</a:t>
            </a:r>
          </a:p>
        </p:txBody>
      </p:sp>
      <p:sp>
        <p:nvSpPr>
          <p:cNvPr id="8" name="TextBox 7"/>
          <p:cNvSpPr txBox="1"/>
          <p:nvPr/>
        </p:nvSpPr>
        <p:spPr>
          <a:xfrm>
            <a:off x="1005840" y="2395728"/>
            <a:ext cx="4572000" cy="411480"/>
          </a:xfrm>
          <a:prstGeom prst="rect">
            <a:avLst/>
          </a:prstGeom>
          <a:noFill/>
        </p:spPr>
        <p:txBody>
          <a:bodyPr wrap="square" lIns="0" rIns="0" tIns="0" bIns="0" anchor="t">
            <a:spAutoFit/>
          </a:bodyPr>
          <a:lstStyle/>
          <a:p>
            <a:pPr algn="l">
              <a:lnSpc>
                <a:spcPct val="110000"/>
              </a:lnSpc>
            </a:pPr>
            <a:r>
              <a:rPr sz="1900" b="0">
                <a:solidFill>
                  <a:srgbClr val="45555D"/>
                </a:solidFill>
                <a:latin typeface="Segoe UI"/>
              </a:rPr>
              <a:t>Request · compare · pay · track</a:t>
            </a:r>
          </a:p>
        </p:txBody>
      </p:sp>
      <p:sp>
        <p:nvSpPr>
          <p:cNvPr id="9" name="Rounded Rectangle 8"/>
          <p:cNvSpPr/>
          <p:nvPr/>
        </p:nvSpPr>
        <p:spPr>
          <a:xfrm>
            <a:off x="640080" y="3035808"/>
            <a:ext cx="5120640" cy="1051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035808"/>
            <a:ext cx="128016" cy="1051560"/>
          </a:xfrm>
          <a:prstGeom prst="rect">
            <a:avLst/>
          </a:prstGeom>
          <a:solidFill>
            <a:srgbClr val="1E6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45536"/>
            <a:ext cx="4572000" cy="457200"/>
          </a:xfrm>
          <a:prstGeom prst="rect">
            <a:avLst/>
          </a:prstGeom>
          <a:noFill/>
        </p:spPr>
        <p:txBody>
          <a:bodyPr wrap="square" lIns="0" rIns="0" tIns="0" bIns="0" anchor="t">
            <a:spAutoFit/>
          </a:bodyPr>
          <a:lstStyle/>
          <a:p>
            <a:pPr algn="l">
              <a:lnSpc>
                <a:spcPct val="110000"/>
              </a:lnSpc>
            </a:pPr>
            <a:r>
              <a:rPr sz="2600" b="1">
                <a:solidFill>
                  <a:srgbClr val="0F2430"/>
                </a:solidFill>
                <a:latin typeface="Segoe UI"/>
              </a:rPr>
              <a:t>Technician</a:t>
            </a:r>
          </a:p>
        </p:txBody>
      </p:sp>
      <p:sp>
        <p:nvSpPr>
          <p:cNvPr id="12" name="TextBox 11"/>
          <p:cNvSpPr txBox="1"/>
          <p:nvPr/>
        </p:nvSpPr>
        <p:spPr>
          <a:xfrm>
            <a:off x="1005840" y="3602736"/>
            <a:ext cx="4572000" cy="411480"/>
          </a:xfrm>
          <a:prstGeom prst="rect">
            <a:avLst/>
          </a:prstGeom>
          <a:noFill/>
        </p:spPr>
        <p:txBody>
          <a:bodyPr wrap="square" lIns="0" rIns="0" tIns="0" bIns="0" anchor="t">
            <a:spAutoFit/>
          </a:bodyPr>
          <a:lstStyle/>
          <a:p>
            <a:pPr algn="l">
              <a:lnSpc>
                <a:spcPct val="110000"/>
              </a:lnSpc>
            </a:pPr>
            <a:r>
              <a:rPr sz="1900" b="0">
                <a:solidFill>
                  <a:srgbClr val="45555D"/>
                </a:solidFill>
                <a:latin typeface="Segoe UI"/>
              </a:rPr>
              <a:t>Find jobs · quote · repair · get paid</a:t>
            </a:r>
          </a:p>
        </p:txBody>
      </p:sp>
      <p:sp>
        <p:nvSpPr>
          <p:cNvPr id="13" name="Rounded Rectangle 12"/>
          <p:cNvSpPr/>
          <p:nvPr/>
        </p:nvSpPr>
        <p:spPr>
          <a:xfrm>
            <a:off x="640080" y="4242816"/>
            <a:ext cx="5120640" cy="1051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242816"/>
            <a:ext cx="128016" cy="1051560"/>
          </a:xfrm>
          <a:prstGeom prst="rect">
            <a:avLst/>
          </a:prstGeom>
          <a:solidFill>
            <a:srgbClr val="1E6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352544"/>
            <a:ext cx="4572000" cy="457200"/>
          </a:xfrm>
          <a:prstGeom prst="rect">
            <a:avLst/>
          </a:prstGeom>
          <a:noFill/>
        </p:spPr>
        <p:txBody>
          <a:bodyPr wrap="square" lIns="0" rIns="0" tIns="0" bIns="0" anchor="t">
            <a:spAutoFit/>
          </a:bodyPr>
          <a:lstStyle/>
          <a:p>
            <a:pPr algn="l">
              <a:lnSpc>
                <a:spcPct val="110000"/>
              </a:lnSpc>
            </a:pPr>
            <a:r>
              <a:rPr sz="2600" b="1">
                <a:solidFill>
                  <a:srgbClr val="0F2430"/>
                </a:solidFill>
                <a:latin typeface="Segoe UI"/>
              </a:rPr>
              <a:t>Admin</a:t>
            </a:r>
          </a:p>
        </p:txBody>
      </p:sp>
      <p:sp>
        <p:nvSpPr>
          <p:cNvPr id="16" name="TextBox 15"/>
          <p:cNvSpPr txBox="1"/>
          <p:nvPr/>
        </p:nvSpPr>
        <p:spPr>
          <a:xfrm>
            <a:off x="1005840" y="4809744"/>
            <a:ext cx="4572000" cy="411480"/>
          </a:xfrm>
          <a:prstGeom prst="rect">
            <a:avLst/>
          </a:prstGeom>
          <a:noFill/>
        </p:spPr>
        <p:txBody>
          <a:bodyPr wrap="square" lIns="0" rIns="0" tIns="0" bIns="0" anchor="t">
            <a:spAutoFit/>
          </a:bodyPr>
          <a:lstStyle/>
          <a:p>
            <a:pPr algn="l">
              <a:lnSpc>
                <a:spcPct val="110000"/>
              </a:lnSpc>
            </a:pPr>
            <a:r>
              <a:rPr sz="1900" b="0">
                <a:solidFill>
                  <a:srgbClr val="45555D"/>
                </a:solidFill>
                <a:latin typeface="Segoe UI"/>
              </a:rPr>
              <a:t>Approve · prices · problems · reports</a:t>
            </a:r>
          </a:p>
        </p:txBody>
      </p:sp>
      <p:pic>
        <p:nvPicPr>
          <p:cNvPr id="17" name="Picture 16" descr="home.png"/>
          <p:cNvPicPr>
            <a:picLocks noChangeAspect="1"/>
          </p:cNvPicPr>
          <p:nvPr/>
        </p:nvPicPr>
        <p:blipFill>
          <a:blip r:embed="rId2"/>
          <a:stretch>
            <a:fillRect/>
          </a:stretch>
        </p:blipFill>
        <p:spPr>
          <a:xfrm>
            <a:off x="6080760" y="1828800"/>
            <a:ext cx="5468112" cy="3417570"/>
          </a:xfrm>
          <a:prstGeom prst="rect">
            <a:avLst/>
          </a:prstGeom>
          <a:ln w="15875">
            <a:solidFill>
              <a:srgbClr val="C9CFCB"/>
            </a:solidFill>
          </a:ln>
        </p:spPr>
      </p:pic>
      <p:sp>
        <p:nvSpPr>
          <p:cNvPr id="18" name="TextBox 17"/>
          <p:cNvSpPr txBox="1"/>
          <p:nvPr/>
        </p:nvSpPr>
        <p:spPr>
          <a:xfrm>
            <a:off x="6080760" y="5532120"/>
            <a:ext cx="5468112" cy="640080"/>
          </a:xfrm>
          <a:prstGeom prst="rect">
            <a:avLst/>
          </a:prstGeom>
          <a:noFill/>
        </p:spPr>
        <p:txBody>
          <a:bodyPr wrap="square" lIns="0" rIns="0" tIns="0" bIns="0" anchor="t">
            <a:spAutoFit/>
          </a:bodyPr>
          <a:lstStyle/>
          <a:p>
            <a:pPr algn="l">
              <a:lnSpc>
                <a:spcPct val="110000"/>
              </a:lnSpc>
            </a:pPr>
            <a:r>
              <a:rPr sz="3200" b="1">
                <a:solidFill>
                  <a:srgbClr val="0F2430"/>
                </a:solidFill>
                <a:latin typeface="Segoe UI"/>
              </a:rPr>
              <a:t>45</a:t>
            </a:r>
            <a:r>
              <a:rPr sz="2000" b="0">
                <a:solidFill>
                  <a:srgbClr val="45555D"/>
                </a:solidFill>
                <a:latin typeface="Segoe UI"/>
              </a:rPr>
              <a:t>  services    </a:t>
            </a:r>
            <a:r>
              <a:rPr sz="3200" b="1">
                <a:solidFill>
                  <a:srgbClr val="0F2430"/>
                </a:solidFill>
                <a:latin typeface="Segoe UI"/>
              </a:rPr>
              <a:t>8</a:t>
            </a:r>
            <a:r>
              <a:rPr sz="2000" b="0">
                <a:solidFill>
                  <a:srgbClr val="45555D"/>
                </a:solidFill>
                <a:latin typeface="Segoe UI"/>
              </a:rPr>
              <a:t>  devices    </a:t>
            </a:r>
            <a:r>
              <a:rPr sz="3200" b="1">
                <a:solidFill>
                  <a:srgbClr val="1E6F63"/>
                </a:solidFill>
                <a:latin typeface="Segoe UI"/>
              </a:rPr>
              <a:t>Live</a:t>
            </a:r>
            <a:r>
              <a:rPr sz="2000" b="0">
                <a:solidFill>
                  <a:srgbClr val="45555D"/>
                </a:solidFill>
                <a:latin typeface="Segoe UI"/>
              </a:rPr>
              <a:t>  on Vercel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HOW IT WORKS</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From broken device to paid technician</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4/11</a:t>
            </a:r>
          </a:p>
        </p:txBody>
      </p:sp>
      <p:sp>
        <p:nvSpPr>
          <p:cNvPr id="5" name="Rounded Rectangle 4"/>
          <p:cNvSpPr/>
          <p:nvPr/>
        </p:nvSpPr>
        <p:spPr>
          <a:xfrm>
            <a:off x="640080"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2103120"/>
            <a:ext cx="713232" cy="713232"/>
          </a:xfrm>
          <a:prstGeom prst="ellipse">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103120"/>
            <a:ext cx="713232" cy="713232"/>
          </a:xfrm>
          <a:prstGeom prst="rect">
            <a:avLst/>
          </a:prstGeom>
          <a:noFill/>
        </p:spPr>
        <p:txBody>
          <a:bodyPr wrap="square" lIns="0" rIns="0" tIns="0" bIns="0" anchor="ctr">
            <a:spAutoFit/>
          </a:bodyPr>
          <a:lstStyle/>
          <a:p>
            <a:pPr algn="ctr">
              <a:lnSpc>
                <a:spcPct val="110000"/>
              </a:lnSpc>
            </a:pPr>
            <a:r>
              <a:rPr sz="2600" b="1">
                <a:solidFill>
                  <a:srgbClr val="FFFFFF"/>
                </a:solidFill>
                <a:latin typeface="Segoe UI"/>
              </a:rPr>
              <a:t>1</a:t>
            </a:r>
          </a:p>
        </p:txBody>
      </p:sp>
      <p:sp>
        <p:nvSpPr>
          <p:cNvPr id="8" name="TextBox 7"/>
          <p:cNvSpPr txBox="1"/>
          <p:nvPr/>
        </p:nvSpPr>
        <p:spPr>
          <a:xfrm>
            <a:off x="731520"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Request</a:t>
            </a:r>
          </a:p>
        </p:txBody>
      </p:sp>
      <p:sp>
        <p:nvSpPr>
          <p:cNvPr id="9" name="TextBox 8"/>
          <p:cNvSpPr txBox="1"/>
          <p:nvPr/>
        </p:nvSpPr>
        <p:spPr>
          <a:xfrm>
            <a:off x="777240"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AI fills the form</a:t>
            </a:r>
          </a:p>
        </p:txBody>
      </p:sp>
      <p:sp>
        <p:nvSpPr>
          <p:cNvPr id="10" name="Rounded Rectangle 9"/>
          <p:cNvSpPr/>
          <p:nvPr/>
        </p:nvSpPr>
        <p:spPr>
          <a:xfrm>
            <a:off x="2478024"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80944" y="2103120"/>
            <a:ext cx="713232" cy="713232"/>
          </a:xfrm>
          <a:prstGeom prst="ellipse">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80944" y="2103120"/>
            <a:ext cx="713232" cy="713232"/>
          </a:xfrm>
          <a:prstGeom prst="rect">
            <a:avLst/>
          </a:prstGeom>
          <a:noFill/>
        </p:spPr>
        <p:txBody>
          <a:bodyPr wrap="square" lIns="0" rIns="0" tIns="0" bIns="0" anchor="ctr">
            <a:spAutoFit/>
          </a:bodyPr>
          <a:lstStyle/>
          <a:p>
            <a:pPr algn="ctr">
              <a:lnSpc>
                <a:spcPct val="110000"/>
              </a:lnSpc>
            </a:pPr>
            <a:r>
              <a:rPr sz="2600" b="1">
                <a:solidFill>
                  <a:srgbClr val="FFFFFF"/>
                </a:solidFill>
                <a:latin typeface="Segoe UI"/>
              </a:rPr>
              <a:t>2</a:t>
            </a:r>
          </a:p>
        </p:txBody>
      </p:sp>
      <p:sp>
        <p:nvSpPr>
          <p:cNvPr id="13" name="TextBox 12"/>
          <p:cNvSpPr txBox="1"/>
          <p:nvPr/>
        </p:nvSpPr>
        <p:spPr>
          <a:xfrm>
            <a:off x="2569464"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Offers</a:t>
            </a:r>
          </a:p>
        </p:txBody>
      </p:sp>
      <p:sp>
        <p:nvSpPr>
          <p:cNvPr id="14" name="TextBox 13"/>
          <p:cNvSpPr txBox="1"/>
          <p:nvPr/>
        </p:nvSpPr>
        <p:spPr>
          <a:xfrm>
            <a:off x="2615184"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Local technicians bid</a:t>
            </a:r>
          </a:p>
        </p:txBody>
      </p:sp>
      <p:sp>
        <p:nvSpPr>
          <p:cNvPr id="15" name="Rounded Rectangle 14"/>
          <p:cNvSpPr/>
          <p:nvPr/>
        </p:nvSpPr>
        <p:spPr>
          <a:xfrm>
            <a:off x="4315968"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18888" y="2103120"/>
            <a:ext cx="713232" cy="713232"/>
          </a:xfrm>
          <a:prstGeom prst="ellipse">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18888" y="2103120"/>
            <a:ext cx="713232" cy="713232"/>
          </a:xfrm>
          <a:prstGeom prst="rect">
            <a:avLst/>
          </a:prstGeom>
          <a:noFill/>
        </p:spPr>
        <p:txBody>
          <a:bodyPr wrap="square" lIns="0" rIns="0" tIns="0" bIns="0" anchor="ctr">
            <a:spAutoFit/>
          </a:bodyPr>
          <a:lstStyle/>
          <a:p>
            <a:pPr algn="ctr">
              <a:lnSpc>
                <a:spcPct val="110000"/>
              </a:lnSpc>
            </a:pPr>
            <a:r>
              <a:rPr sz="2600" b="1">
                <a:solidFill>
                  <a:srgbClr val="0F2430"/>
                </a:solidFill>
                <a:latin typeface="Segoe UI"/>
              </a:rPr>
              <a:t>3</a:t>
            </a:r>
          </a:p>
        </p:txBody>
      </p:sp>
      <p:sp>
        <p:nvSpPr>
          <p:cNvPr id="18" name="TextBox 17"/>
          <p:cNvSpPr txBox="1"/>
          <p:nvPr/>
        </p:nvSpPr>
        <p:spPr>
          <a:xfrm>
            <a:off x="4407408"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Book</a:t>
            </a:r>
          </a:p>
        </p:txBody>
      </p:sp>
      <p:sp>
        <p:nvSpPr>
          <p:cNvPr id="19" name="TextBox 18"/>
          <p:cNvSpPr txBox="1"/>
          <p:nvPr/>
        </p:nvSpPr>
        <p:spPr>
          <a:xfrm>
            <a:off x="4453128"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Pay inspection fee</a:t>
            </a:r>
          </a:p>
        </p:txBody>
      </p:sp>
      <p:sp>
        <p:nvSpPr>
          <p:cNvPr id="20" name="Rounded Rectangle 19"/>
          <p:cNvSpPr/>
          <p:nvPr/>
        </p:nvSpPr>
        <p:spPr>
          <a:xfrm>
            <a:off x="6153912"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56832" y="2103120"/>
            <a:ext cx="713232" cy="713232"/>
          </a:xfrm>
          <a:prstGeom prst="ellipse">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2" y="2103120"/>
            <a:ext cx="713232" cy="713232"/>
          </a:xfrm>
          <a:prstGeom prst="rect">
            <a:avLst/>
          </a:prstGeom>
          <a:noFill/>
        </p:spPr>
        <p:txBody>
          <a:bodyPr wrap="square" lIns="0" rIns="0" tIns="0" bIns="0" anchor="ctr">
            <a:spAutoFit/>
          </a:bodyPr>
          <a:lstStyle/>
          <a:p>
            <a:pPr algn="ctr">
              <a:lnSpc>
                <a:spcPct val="110000"/>
              </a:lnSpc>
            </a:pPr>
            <a:r>
              <a:rPr sz="2600" b="1">
                <a:solidFill>
                  <a:srgbClr val="FFFFFF"/>
                </a:solidFill>
                <a:latin typeface="Segoe UI"/>
              </a:rPr>
              <a:t>4</a:t>
            </a:r>
          </a:p>
        </p:txBody>
      </p:sp>
      <p:sp>
        <p:nvSpPr>
          <p:cNvPr id="23" name="TextBox 22"/>
          <p:cNvSpPr txBox="1"/>
          <p:nvPr/>
        </p:nvSpPr>
        <p:spPr>
          <a:xfrm>
            <a:off x="6245352"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Quote</a:t>
            </a:r>
          </a:p>
        </p:txBody>
      </p:sp>
      <p:sp>
        <p:nvSpPr>
          <p:cNvPr id="24" name="TextBox 23"/>
          <p:cNvSpPr txBox="1"/>
          <p:nvPr/>
        </p:nvSpPr>
        <p:spPr>
          <a:xfrm>
            <a:off x="6291072"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Itemised price</a:t>
            </a:r>
          </a:p>
        </p:txBody>
      </p:sp>
      <p:sp>
        <p:nvSpPr>
          <p:cNvPr id="25" name="Rounded Rectangle 24"/>
          <p:cNvSpPr/>
          <p:nvPr/>
        </p:nvSpPr>
        <p:spPr>
          <a:xfrm>
            <a:off x="7991856"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94776" y="2103120"/>
            <a:ext cx="713232" cy="713232"/>
          </a:xfrm>
          <a:prstGeom prst="ellipse">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4776" y="2103120"/>
            <a:ext cx="713232" cy="713232"/>
          </a:xfrm>
          <a:prstGeom prst="rect">
            <a:avLst/>
          </a:prstGeom>
          <a:noFill/>
        </p:spPr>
        <p:txBody>
          <a:bodyPr wrap="square" lIns="0" rIns="0" tIns="0" bIns="0" anchor="ctr">
            <a:spAutoFit/>
          </a:bodyPr>
          <a:lstStyle/>
          <a:p>
            <a:pPr algn="ctr">
              <a:lnSpc>
                <a:spcPct val="110000"/>
              </a:lnSpc>
            </a:pPr>
            <a:r>
              <a:rPr sz="2600" b="1">
                <a:solidFill>
                  <a:srgbClr val="0F2430"/>
                </a:solidFill>
                <a:latin typeface="Segoe UI"/>
              </a:rPr>
              <a:t>5</a:t>
            </a:r>
          </a:p>
        </p:txBody>
      </p:sp>
      <p:sp>
        <p:nvSpPr>
          <p:cNvPr id="28" name="TextBox 27"/>
          <p:cNvSpPr txBox="1"/>
          <p:nvPr/>
        </p:nvSpPr>
        <p:spPr>
          <a:xfrm>
            <a:off x="8083296"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Pay &amp; repair</a:t>
            </a:r>
          </a:p>
        </p:txBody>
      </p:sp>
      <p:sp>
        <p:nvSpPr>
          <p:cNvPr id="29" name="TextBox 28"/>
          <p:cNvSpPr txBox="1"/>
          <p:nvPr/>
        </p:nvSpPr>
        <p:spPr>
          <a:xfrm>
            <a:off x="8129016"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Fee already counted</a:t>
            </a:r>
          </a:p>
        </p:txBody>
      </p:sp>
      <p:sp>
        <p:nvSpPr>
          <p:cNvPr id="30" name="Rounded Rectangle 29"/>
          <p:cNvSpPr/>
          <p:nvPr/>
        </p:nvSpPr>
        <p:spPr>
          <a:xfrm>
            <a:off x="9829800" y="1828800"/>
            <a:ext cx="1719072" cy="31089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32720" y="2103120"/>
            <a:ext cx="713232" cy="713232"/>
          </a:xfrm>
          <a:prstGeom prst="ellipse">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32720" y="2103120"/>
            <a:ext cx="713232" cy="713232"/>
          </a:xfrm>
          <a:prstGeom prst="rect">
            <a:avLst/>
          </a:prstGeom>
          <a:noFill/>
        </p:spPr>
        <p:txBody>
          <a:bodyPr wrap="square" lIns="0" rIns="0" tIns="0" bIns="0" anchor="ctr">
            <a:spAutoFit/>
          </a:bodyPr>
          <a:lstStyle/>
          <a:p>
            <a:pPr algn="ctr">
              <a:lnSpc>
                <a:spcPct val="110000"/>
              </a:lnSpc>
            </a:pPr>
            <a:r>
              <a:rPr sz="2600" b="1">
                <a:solidFill>
                  <a:srgbClr val="FFFFFF"/>
                </a:solidFill>
                <a:latin typeface="Segoe UI"/>
              </a:rPr>
              <a:t>6</a:t>
            </a:r>
          </a:p>
        </p:txBody>
      </p:sp>
      <p:sp>
        <p:nvSpPr>
          <p:cNvPr id="33" name="TextBox 32"/>
          <p:cNvSpPr txBox="1"/>
          <p:nvPr/>
        </p:nvSpPr>
        <p:spPr>
          <a:xfrm>
            <a:off x="9921240" y="3017520"/>
            <a:ext cx="1536192" cy="777240"/>
          </a:xfrm>
          <a:prstGeom prst="rect">
            <a:avLst/>
          </a:prstGeom>
          <a:noFill/>
        </p:spPr>
        <p:txBody>
          <a:bodyPr wrap="square" lIns="0" rIns="0" tIns="0" bIns="0" anchor="ctr">
            <a:spAutoFit/>
          </a:bodyPr>
          <a:lstStyle/>
          <a:p>
            <a:pPr algn="ctr">
              <a:lnSpc>
                <a:spcPct val="110000"/>
              </a:lnSpc>
            </a:pPr>
            <a:r>
              <a:rPr sz="2200" b="1">
                <a:solidFill>
                  <a:srgbClr val="0F2430"/>
                </a:solidFill>
                <a:latin typeface="Segoe UI"/>
              </a:rPr>
              <a:t>Hand-over</a:t>
            </a:r>
          </a:p>
        </p:txBody>
      </p:sp>
      <p:sp>
        <p:nvSpPr>
          <p:cNvPr id="34" name="TextBox 33"/>
          <p:cNvSpPr txBox="1"/>
          <p:nvPr/>
        </p:nvSpPr>
        <p:spPr>
          <a:xfrm>
            <a:off x="9966960" y="3840480"/>
            <a:ext cx="1444752" cy="9144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Warranty starts</a:t>
            </a:r>
          </a:p>
        </p:txBody>
      </p:sp>
      <p:sp>
        <p:nvSpPr>
          <p:cNvPr id="35" name="Rounded Rectangle 34"/>
          <p:cNvSpPr/>
          <p:nvPr/>
        </p:nvSpPr>
        <p:spPr>
          <a:xfrm>
            <a:off x="640080" y="5257800"/>
            <a:ext cx="10908792" cy="86868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257800"/>
            <a:ext cx="10268712" cy="868680"/>
          </a:xfrm>
          <a:prstGeom prst="rect">
            <a:avLst/>
          </a:prstGeom>
          <a:noFill/>
        </p:spPr>
        <p:txBody>
          <a:bodyPr wrap="square" lIns="0" rIns="0" tIns="0" bIns="0" anchor="ctr">
            <a:spAutoFit/>
          </a:bodyPr>
          <a:lstStyle/>
          <a:p>
            <a:pPr algn="l">
              <a:lnSpc>
                <a:spcPct val="110000"/>
              </a:lnSpc>
            </a:pPr>
            <a:r>
              <a:rPr sz="2100" b="1">
                <a:solidFill>
                  <a:srgbClr val="F2B138"/>
                </a:solidFill>
                <a:latin typeface="Segoe UI"/>
              </a:rPr>
              <a:t>Fair by design:  </a:t>
            </a:r>
            <a:r>
              <a:rPr sz="2100" b="0">
                <a:solidFill>
                  <a:srgbClr val="FFFFFF"/>
                </a:solidFill>
                <a:latin typeface="Segoe UI"/>
              </a:rPr>
              <a:t>no-show or early cancel = full refund, otherwise fee split 90/10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HOW IT WORKS: THE DATA</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Entity-relationship diagram</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5/11</a:t>
            </a:r>
          </a:p>
        </p:txBody>
      </p:sp>
      <p:sp>
        <p:nvSpPr>
          <p:cNvPr id="5" name="Rectangle 4"/>
          <p:cNvSpPr/>
          <p:nvPr/>
        </p:nvSpPr>
        <p:spPr>
          <a:xfrm>
            <a:off x="640080" y="1737360"/>
            <a:ext cx="2514600" cy="1188720"/>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25146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37360"/>
            <a:ext cx="25146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User</a:t>
            </a:r>
          </a:p>
        </p:txBody>
      </p:sp>
      <p:sp>
        <p:nvSpPr>
          <p:cNvPr id="8" name="TextBox 7"/>
          <p:cNvSpPr txBox="1"/>
          <p:nvPr/>
        </p:nvSpPr>
        <p:spPr>
          <a:xfrm>
            <a:off x="777240" y="2258568"/>
            <a:ext cx="2286000" cy="731520"/>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PK  </a:t>
            </a:r>
            <a:r>
              <a:rPr sz="1500" b="0">
                <a:solidFill>
                  <a:srgbClr val="0F2430"/>
                </a:solidFill>
                <a:latin typeface="Segoe UI"/>
              </a:rPr>
              <a:t>email</a:t>
            </a:r>
          </a:p>
          <a:p>
            <a:pPr algn="l">
              <a:lnSpc>
                <a:spcPct val="100000"/>
              </a:lnSpc>
            </a:pPr>
            <a:r>
              <a:rPr sz="1500" b="0">
                <a:solidFill>
                  <a:srgbClr val="0F2430"/>
                </a:solidFill>
                <a:latin typeface="Segoe UI"/>
              </a:rPr>
              <a:t>role</a:t>
            </a:r>
          </a:p>
        </p:txBody>
      </p:sp>
      <p:sp>
        <p:nvSpPr>
          <p:cNvPr id="9" name="Rectangle 8"/>
          <p:cNvSpPr/>
          <p:nvPr/>
        </p:nvSpPr>
        <p:spPr>
          <a:xfrm>
            <a:off x="640080" y="4160520"/>
            <a:ext cx="2514600" cy="1490472"/>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160520"/>
            <a:ext cx="25146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60520"/>
            <a:ext cx="25146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Technician</a:t>
            </a:r>
          </a:p>
        </p:txBody>
      </p:sp>
      <p:sp>
        <p:nvSpPr>
          <p:cNvPr id="12" name="TextBox 11"/>
          <p:cNvSpPr txBox="1"/>
          <p:nvPr/>
        </p:nvSpPr>
        <p:spPr>
          <a:xfrm>
            <a:off x="777240" y="4681728"/>
            <a:ext cx="2286000" cy="1033272"/>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PK  </a:t>
            </a:r>
            <a:r>
              <a:rPr sz="1500" b="0">
                <a:solidFill>
                  <a:srgbClr val="0F2430"/>
                </a:solidFill>
                <a:latin typeface="Segoe UI"/>
              </a:rPr>
              <a:t>id</a:t>
            </a:r>
          </a:p>
          <a:p>
            <a:pPr algn="l">
              <a:lnSpc>
                <a:spcPct val="100000"/>
              </a:lnSpc>
            </a:pPr>
            <a:r>
              <a:rPr sz="1200" b="1">
                <a:solidFill>
                  <a:srgbClr val="1E6F63"/>
                </a:solidFill>
                <a:latin typeface="Segoe UI"/>
              </a:rPr>
              <a:t>FK  </a:t>
            </a:r>
            <a:r>
              <a:rPr sz="1500" b="0">
                <a:solidFill>
                  <a:srgbClr val="0F2430"/>
                </a:solidFill>
                <a:latin typeface="Segoe UI"/>
              </a:rPr>
              <a:t>user email</a:t>
            </a:r>
          </a:p>
          <a:p>
            <a:pPr algn="l">
              <a:lnSpc>
                <a:spcPct val="100000"/>
              </a:lnSpc>
            </a:pPr>
            <a:r>
              <a:rPr sz="1500" b="0">
                <a:solidFill>
                  <a:srgbClr val="0F2430"/>
                </a:solidFill>
                <a:latin typeface="Segoe UI"/>
              </a:rPr>
              <a:t>region, skills</a:t>
            </a:r>
          </a:p>
        </p:txBody>
      </p:sp>
      <p:sp>
        <p:nvSpPr>
          <p:cNvPr id="13" name="Rectangle 12"/>
          <p:cNvSpPr/>
          <p:nvPr/>
        </p:nvSpPr>
        <p:spPr>
          <a:xfrm>
            <a:off x="4681728" y="1737360"/>
            <a:ext cx="2743200" cy="1188720"/>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81728" y="1737360"/>
            <a:ext cx="27432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1737360"/>
            <a:ext cx="27432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Service</a:t>
            </a:r>
          </a:p>
        </p:txBody>
      </p:sp>
      <p:sp>
        <p:nvSpPr>
          <p:cNvPr id="16" name="TextBox 15"/>
          <p:cNvSpPr txBox="1"/>
          <p:nvPr/>
        </p:nvSpPr>
        <p:spPr>
          <a:xfrm>
            <a:off x="4818888" y="2258568"/>
            <a:ext cx="2514600" cy="731520"/>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PK  </a:t>
            </a:r>
            <a:r>
              <a:rPr sz="1500" b="0">
                <a:solidFill>
                  <a:srgbClr val="0F2430"/>
                </a:solidFill>
                <a:latin typeface="Segoe UI"/>
              </a:rPr>
              <a:t>id</a:t>
            </a:r>
          </a:p>
          <a:p>
            <a:pPr algn="l">
              <a:lnSpc>
                <a:spcPct val="100000"/>
              </a:lnSpc>
            </a:pPr>
            <a:r>
              <a:rPr sz="1500" b="0">
                <a:solidFill>
                  <a:srgbClr val="0F2430"/>
                </a:solidFill>
                <a:latin typeface="Segoe UI"/>
              </a:rPr>
              <a:t>price, inspection fee</a:t>
            </a:r>
          </a:p>
        </p:txBody>
      </p:sp>
      <p:sp>
        <p:nvSpPr>
          <p:cNvPr id="17" name="Rectangle 16"/>
          <p:cNvSpPr/>
          <p:nvPr/>
        </p:nvSpPr>
        <p:spPr>
          <a:xfrm>
            <a:off x="4498848" y="3429000"/>
            <a:ext cx="3108960" cy="1490472"/>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98848" y="3429000"/>
            <a:ext cx="3108960" cy="457200"/>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8848" y="3429000"/>
            <a:ext cx="3108960" cy="457200"/>
          </a:xfrm>
          <a:prstGeom prst="rect">
            <a:avLst/>
          </a:prstGeom>
          <a:noFill/>
        </p:spPr>
        <p:txBody>
          <a:bodyPr wrap="square" lIns="0" rIns="0" tIns="0" bIns="0" anchor="ctr">
            <a:spAutoFit/>
          </a:bodyPr>
          <a:lstStyle/>
          <a:p>
            <a:pPr algn="ctr">
              <a:lnSpc>
                <a:spcPct val="110000"/>
              </a:lnSpc>
            </a:pPr>
            <a:r>
              <a:rPr sz="1900" b="1">
                <a:solidFill>
                  <a:srgbClr val="0F2430"/>
                </a:solidFill>
                <a:latin typeface="Segoe UI"/>
              </a:rPr>
              <a:t>Repair Request</a:t>
            </a:r>
          </a:p>
        </p:txBody>
      </p:sp>
      <p:sp>
        <p:nvSpPr>
          <p:cNvPr id="20" name="TextBox 19"/>
          <p:cNvSpPr txBox="1"/>
          <p:nvPr/>
        </p:nvSpPr>
        <p:spPr>
          <a:xfrm>
            <a:off x="4636008" y="3950208"/>
            <a:ext cx="2880360" cy="1033272"/>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PK  </a:t>
            </a:r>
            <a:r>
              <a:rPr sz="1500" b="0">
                <a:solidFill>
                  <a:srgbClr val="0F2430"/>
                </a:solidFill>
                <a:latin typeface="Segoe UI"/>
              </a:rPr>
              <a:t>id</a:t>
            </a:r>
          </a:p>
          <a:p>
            <a:pPr algn="l">
              <a:lnSpc>
                <a:spcPct val="100000"/>
              </a:lnSpc>
            </a:pPr>
            <a:r>
              <a:rPr sz="1200" b="1">
                <a:solidFill>
                  <a:srgbClr val="1E6F63"/>
                </a:solidFill>
                <a:latin typeface="Segoe UI"/>
              </a:rPr>
              <a:t>FK  </a:t>
            </a:r>
            <a:r>
              <a:rPr sz="1500" b="0">
                <a:solidFill>
                  <a:srgbClr val="0F2430"/>
                </a:solidFill>
                <a:latin typeface="Segoe UI"/>
              </a:rPr>
              <a:t>customer, technician, service</a:t>
            </a:r>
          </a:p>
          <a:p>
            <a:pPr algn="l">
              <a:lnSpc>
                <a:spcPct val="100000"/>
              </a:lnSpc>
            </a:pPr>
            <a:r>
              <a:rPr sz="1500" b="0">
                <a:solidFill>
                  <a:srgbClr val="0F2430"/>
                </a:solidFill>
                <a:latin typeface="Segoe UI"/>
              </a:rPr>
              <a:t>status, quote</a:t>
            </a:r>
          </a:p>
        </p:txBody>
      </p:sp>
      <p:sp>
        <p:nvSpPr>
          <p:cNvPr id="21" name="Rectangle 20"/>
          <p:cNvSpPr/>
          <p:nvPr/>
        </p:nvSpPr>
        <p:spPr>
          <a:xfrm>
            <a:off x="4498848" y="5349240"/>
            <a:ext cx="3108960" cy="886968"/>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98848" y="5349240"/>
            <a:ext cx="310896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5349240"/>
            <a:ext cx="310896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Offer</a:t>
            </a:r>
          </a:p>
        </p:txBody>
      </p:sp>
      <p:sp>
        <p:nvSpPr>
          <p:cNvPr id="24" name="TextBox 23"/>
          <p:cNvSpPr txBox="1"/>
          <p:nvPr/>
        </p:nvSpPr>
        <p:spPr>
          <a:xfrm>
            <a:off x="4636008" y="5870448"/>
            <a:ext cx="2880360" cy="429768"/>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FK  </a:t>
            </a:r>
            <a:r>
              <a:rPr sz="1500" b="0">
                <a:solidFill>
                  <a:srgbClr val="0F2430"/>
                </a:solidFill>
                <a:latin typeface="Segoe UI"/>
              </a:rPr>
              <a:t>request, technician, estimate</a:t>
            </a:r>
          </a:p>
        </p:txBody>
      </p:sp>
      <p:sp>
        <p:nvSpPr>
          <p:cNvPr id="25" name="Rectangle 24"/>
          <p:cNvSpPr/>
          <p:nvPr/>
        </p:nvSpPr>
        <p:spPr>
          <a:xfrm>
            <a:off x="9034272" y="1737360"/>
            <a:ext cx="2514600" cy="1188720"/>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1737360"/>
            <a:ext cx="25146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1737360"/>
            <a:ext cx="25146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Payment</a:t>
            </a:r>
          </a:p>
        </p:txBody>
      </p:sp>
      <p:sp>
        <p:nvSpPr>
          <p:cNvPr id="28" name="TextBox 27"/>
          <p:cNvSpPr txBox="1"/>
          <p:nvPr/>
        </p:nvSpPr>
        <p:spPr>
          <a:xfrm>
            <a:off x="9171432" y="2258568"/>
            <a:ext cx="2286000" cy="731520"/>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FK  </a:t>
            </a:r>
            <a:r>
              <a:rPr sz="1500" b="0">
                <a:solidFill>
                  <a:srgbClr val="0F2430"/>
                </a:solidFill>
                <a:latin typeface="Segoe UI"/>
              </a:rPr>
              <a:t>request</a:t>
            </a:r>
          </a:p>
          <a:p>
            <a:pPr algn="l">
              <a:lnSpc>
                <a:spcPct val="100000"/>
              </a:lnSpc>
            </a:pPr>
            <a:r>
              <a:rPr sz="1500" b="0">
                <a:solidFill>
                  <a:srgbClr val="0F2430"/>
                </a:solidFill>
                <a:latin typeface="Segoe UI"/>
              </a:rPr>
              <a:t>amount, refund</a:t>
            </a:r>
          </a:p>
        </p:txBody>
      </p:sp>
      <p:sp>
        <p:nvSpPr>
          <p:cNvPr id="29" name="Rectangle 28"/>
          <p:cNvSpPr/>
          <p:nvPr/>
        </p:nvSpPr>
        <p:spPr>
          <a:xfrm>
            <a:off x="9034272" y="3429000"/>
            <a:ext cx="2514600" cy="1188720"/>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34272" y="3429000"/>
            <a:ext cx="25146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34272" y="3429000"/>
            <a:ext cx="25146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Review</a:t>
            </a:r>
          </a:p>
        </p:txBody>
      </p:sp>
      <p:sp>
        <p:nvSpPr>
          <p:cNvPr id="32" name="TextBox 31"/>
          <p:cNvSpPr txBox="1"/>
          <p:nvPr/>
        </p:nvSpPr>
        <p:spPr>
          <a:xfrm>
            <a:off x="9171432" y="3950208"/>
            <a:ext cx="2286000" cy="731520"/>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FK  </a:t>
            </a:r>
            <a:r>
              <a:rPr sz="1500" b="0">
                <a:solidFill>
                  <a:srgbClr val="0F2430"/>
                </a:solidFill>
                <a:latin typeface="Segoe UI"/>
              </a:rPr>
              <a:t>request (unique)</a:t>
            </a:r>
          </a:p>
          <a:p>
            <a:pPr algn="l">
              <a:lnSpc>
                <a:spcPct val="100000"/>
              </a:lnSpc>
            </a:pPr>
            <a:r>
              <a:rPr sz="1500" b="0">
                <a:solidFill>
                  <a:srgbClr val="0F2430"/>
                </a:solidFill>
                <a:latin typeface="Segoe UI"/>
              </a:rPr>
              <a:t>rating</a:t>
            </a:r>
          </a:p>
        </p:txBody>
      </p:sp>
      <p:sp>
        <p:nvSpPr>
          <p:cNvPr id="33" name="Rectangle 32"/>
          <p:cNvSpPr/>
          <p:nvPr/>
        </p:nvSpPr>
        <p:spPr>
          <a:xfrm>
            <a:off x="9034272" y="5074920"/>
            <a:ext cx="2514600" cy="1188720"/>
          </a:xfrm>
          <a:prstGeom prst="rect">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34272" y="5074920"/>
            <a:ext cx="2514600" cy="457200"/>
          </a:xfrm>
          <a:prstGeom prst="rect">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34272" y="5074920"/>
            <a:ext cx="2514600" cy="457200"/>
          </a:xfrm>
          <a:prstGeom prst="rect">
            <a:avLst/>
          </a:prstGeom>
          <a:noFill/>
        </p:spPr>
        <p:txBody>
          <a:bodyPr wrap="square" lIns="0" rIns="0" tIns="0" bIns="0" anchor="ctr">
            <a:spAutoFit/>
          </a:bodyPr>
          <a:lstStyle/>
          <a:p>
            <a:pPr algn="ctr">
              <a:lnSpc>
                <a:spcPct val="110000"/>
              </a:lnSpc>
            </a:pPr>
            <a:r>
              <a:rPr sz="1900" b="1">
                <a:solidFill>
                  <a:srgbClr val="FFFFFF"/>
                </a:solidFill>
                <a:latin typeface="Segoe UI"/>
              </a:rPr>
              <a:t>Warranty Claim</a:t>
            </a:r>
          </a:p>
        </p:txBody>
      </p:sp>
      <p:sp>
        <p:nvSpPr>
          <p:cNvPr id="36" name="TextBox 35"/>
          <p:cNvSpPr txBox="1"/>
          <p:nvPr/>
        </p:nvSpPr>
        <p:spPr>
          <a:xfrm>
            <a:off x="9171432" y="5596128"/>
            <a:ext cx="2286000" cy="731520"/>
          </a:xfrm>
          <a:prstGeom prst="rect">
            <a:avLst/>
          </a:prstGeom>
          <a:noFill/>
        </p:spPr>
        <p:txBody>
          <a:bodyPr wrap="square" lIns="0" rIns="0" tIns="0" bIns="0" anchor="t">
            <a:spAutoFit/>
          </a:bodyPr>
          <a:lstStyle/>
          <a:p>
            <a:pPr algn="l">
              <a:lnSpc>
                <a:spcPct val="100000"/>
              </a:lnSpc>
            </a:pPr>
            <a:r>
              <a:rPr sz="1200" b="1">
                <a:solidFill>
                  <a:srgbClr val="1E6F63"/>
                </a:solidFill>
                <a:latin typeface="Segoe UI"/>
              </a:rPr>
              <a:t>FK  </a:t>
            </a:r>
            <a:r>
              <a:rPr sz="1500" b="0">
                <a:solidFill>
                  <a:srgbClr val="0F2430"/>
                </a:solidFill>
                <a:latin typeface="Segoe UI"/>
              </a:rPr>
              <a:t>request</a:t>
            </a:r>
          </a:p>
          <a:p>
            <a:pPr algn="l">
              <a:lnSpc>
                <a:spcPct val="100000"/>
              </a:lnSpc>
            </a:pPr>
            <a:r>
              <a:rPr sz="1500" b="0">
                <a:solidFill>
                  <a:srgbClr val="0F2430"/>
                </a:solidFill>
                <a:latin typeface="Segoe UI"/>
              </a:rPr>
              <a:t>status</a:t>
            </a:r>
          </a:p>
        </p:txBody>
      </p:sp>
      <p:cxnSp>
        <p:nvCxnSpPr>
          <p:cNvPr id="37" name="Connector 36"/>
          <p:cNvCxnSpPr/>
          <p:nvPr/>
        </p:nvCxnSpPr>
        <p:spPr>
          <a:xfrm>
            <a:off x="1188720" y="2926080"/>
            <a:ext cx="0" cy="123444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69848" y="3035808"/>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69848" y="3127248"/>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9848" y="4050792"/>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9848" y="3959352"/>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5880" y="3246120"/>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becomes</a:t>
            </a:r>
          </a:p>
        </p:txBody>
      </p:sp>
      <p:cxnSp>
        <p:nvCxnSpPr>
          <p:cNvPr id="43" name="Connector 42"/>
          <p:cNvCxnSpPr/>
          <p:nvPr/>
        </p:nvCxnSpPr>
        <p:spPr>
          <a:xfrm>
            <a:off x="3154680" y="2606040"/>
            <a:ext cx="59436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749040" y="2606040"/>
            <a:ext cx="0" cy="155448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749040" y="4160520"/>
            <a:ext cx="749808"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264408" y="248716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355848" y="248716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224528" y="4014216"/>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224528" y="4160520"/>
            <a:ext cx="27432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24528" y="4160520"/>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264408" y="2221992"/>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creates</a:t>
            </a:r>
          </a:p>
        </p:txBody>
      </p:sp>
      <p:cxnSp>
        <p:nvCxnSpPr>
          <p:cNvPr id="52" name="Connector 51"/>
          <p:cNvCxnSpPr/>
          <p:nvPr/>
        </p:nvCxnSpPr>
        <p:spPr>
          <a:xfrm>
            <a:off x="3154680" y="4526280"/>
            <a:ext cx="1344168"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264408" y="440740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355848" y="440740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224528" y="4379976"/>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224528" y="4526280"/>
            <a:ext cx="27432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224528" y="4526280"/>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520440" y="4142232"/>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repairs</a:t>
            </a:r>
          </a:p>
        </p:txBody>
      </p:sp>
      <p:cxnSp>
        <p:nvCxnSpPr>
          <p:cNvPr id="59" name="Connector 58"/>
          <p:cNvCxnSpPr/>
          <p:nvPr/>
        </p:nvCxnSpPr>
        <p:spPr>
          <a:xfrm>
            <a:off x="2606040" y="5650992"/>
            <a:ext cx="0" cy="384048"/>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606040" y="6035040"/>
            <a:ext cx="1892808"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487168" y="5760720"/>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487168" y="5852160"/>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224528" y="5888736"/>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224528" y="6035040"/>
            <a:ext cx="27432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224528" y="6035040"/>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743200" y="5650992"/>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sends</a:t>
            </a:r>
          </a:p>
        </p:txBody>
      </p:sp>
      <p:cxnSp>
        <p:nvCxnSpPr>
          <p:cNvPr id="67" name="Connector 66"/>
          <p:cNvCxnSpPr/>
          <p:nvPr/>
        </p:nvCxnSpPr>
        <p:spPr>
          <a:xfrm>
            <a:off x="6053328" y="2926080"/>
            <a:ext cx="0" cy="5029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34456" y="3035808"/>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34456" y="3127248"/>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907024" y="3154680"/>
            <a:ext cx="146304"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053328" y="3154680"/>
            <a:ext cx="0"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053328" y="3154680"/>
            <a:ext cx="146304"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27648" y="3017520"/>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priced by</a:t>
            </a:r>
          </a:p>
        </p:txBody>
      </p:sp>
      <p:cxnSp>
        <p:nvCxnSpPr>
          <p:cNvPr id="74" name="Connector 73"/>
          <p:cNvCxnSpPr/>
          <p:nvPr/>
        </p:nvCxnSpPr>
        <p:spPr>
          <a:xfrm>
            <a:off x="6053328" y="4919472"/>
            <a:ext cx="0" cy="429768"/>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934456" y="5029200"/>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34456" y="5120640"/>
            <a:ext cx="23774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5907024" y="5074920"/>
            <a:ext cx="146304"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053328" y="5074920"/>
            <a:ext cx="0"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053328" y="5074920"/>
            <a:ext cx="146304" cy="27432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327648" y="4974336"/>
            <a:ext cx="118872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gets</a:t>
            </a:r>
          </a:p>
        </p:txBody>
      </p:sp>
      <p:cxnSp>
        <p:nvCxnSpPr>
          <p:cNvPr id="81" name="Connector 80"/>
          <p:cNvCxnSpPr/>
          <p:nvPr/>
        </p:nvCxnSpPr>
        <p:spPr>
          <a:xfrm>
            <a:off x="7607808" y="3703320"/>
            <a:ext cx="87782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485632" y="2331720"/>
            <a:ext cx="0" cy="137160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485632" y="2331720"/>
            <a:ext cx="54864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717536" y="358444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808976" y="358444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8759952" y="2185416"/>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759952" y="2331720"/>
            <a:ext cx="27432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759952" y="2331720"/>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607808" y="4023360"/>
            <a:ext cx="142646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717536" y="390448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808976" y="390448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924544" y="390448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833104" y="3904488"/>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607808" y="4645152"/>
            <a:ext cx="877824"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485632" y="4645152"/>
            <a:ext cx="0" cy="1024128"/>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85632" y="5669280"/>
            <a:ext cx="54864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717536" y="4526280"/>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808976" y="4526280"/>
            <a:ext cx="0" cy="23774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8759952" y="5522976"/>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59952" y="5669280"/>
            <a:ext cx="274320" cy="0"/>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759952" y="5669280"/>
            <a:ext cx="274320" cy="146304"/>
          </a:xfrm>
          <a:prstGeom prst="line">
            <a:avLst/>
          </a:prstGeom>
          <a:ln w="25400">
            <a:solidFill>
              <a:srgbClr val="0F243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7927848" y="4700016"/>
            <a:ext cx="868680" cy="320040"/>
          </a:xfrm>
          <a:prstGeom prst="rect">
            <a:avLst/>
          </a:prstGeom>
          <a:noFill/>
        </p:spPr>
        <p:txBody>
          <a:bodyPr wrap="square" lIns="0" rIns="0" tIns="0" bIns="0" anchor="t">
            <a:spAutoFit/>
          </a:bodyPr>
          <a:lstStyle/>
          <a:p>
            <a:pPr algn="l">
              <a:lnSpc>
                <a:spcPct val="110000"/>
              </a:lnSpc>
            </a:pPr>
            <a:r>
              <a:rPr sz="1400" b="1">
                <a:solidFill>
                  <a:srgbClr val="1E6F63"/>
                </a:solidFill>
                <a:latin typeface="Segoe UI"/>
              </a:rPr>
              <a:t>max 2</a:t>
            </a:r>
          </a:p>
        </p:txBody>
      </p:sp>
      <p:sp>
        <p:nvSpPr>
          <p:cNvPr id="103" name="TextBox 102"/>
          <p:cNvSpPr txBox="1"/>
          <p:nvPr/>
        </p:nvSpPr>
        <p:spPr>
          <a:xfrm>
            <a:off x="5605272" y="960120"/>
            <a:ext cx="5943600" cy="365760"/>
          </a:xfrm>
          <a:prstGeom prst="rect">
            <a:avLst/>
          </a:prstGeom>
          <a:noFill/>
        </p:spPr>
        <p:txBody>
          <a:bodyPr wrap="square" lIns="0" rIns="0" tIns="0" bIns="0" anchor="t">
            <a:spAutoFit/>
          </a:bodyPr>
          <a:lstStyle/>
          <a:p>
            <a:pPr algn="r">
              <a:lnSpc>
                <a:spcPct val="110000"/>
              </a:lnSpc>
            </a:pPr>
            <a:r>
              <a:rPr sz="1600" b="1">
                <a:solidFill>
                  <a:srgbClr val="0F2430"/>
                </a:solidFill>
                <a:latin typeface="Segoe UI"/>
              </a:rPr>
              <a:t>||</a:t>
            </a:r>
            <a:r>
              <a:rPr sz="1600" b="0">
                <a:solidFill>
                  <a:srgbClr val="45555D"/>
                </a:solidFill>
                <a:latin typeface="Segoe UI"/>
              </a:rPr>
              <a:t>  one     </a:t>
            </a:r>
            <a:r>
              <a:rPr sz="1600" b="1">
                <a:solidFill>
                  <a:srgbClr val="0F2430"/>
                </a:solidFill>
                <a:latin typeface="Segoe UI"/>
              </a:rPr>
              <a:t>crow's foot</a:t>
            </a:r>
            <a:r>
              <a:rPr sz="1600" b="0">
                <a:solidFill>
                  <a:srgbClr val="45555D"/>
                </a:solidFill>
                <a:latin typeface="Segoe UI"/>
              </a:rPr>
              <a:t>  many     ·     MongoDB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CUSTOMER</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Compare ranked offers, pay only what is left</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6/11</a:t>
            </a:r>
          </a:p>
        </p:txBody>
      </p:sp>
      <p:pic>
        <p:nvPicPr>
          <p:cNvPr id="5" name="Picture 4" descr="offer.png"/>
          <p:cNvPicPr>
            <a:picLocks noChangeAspect="1"/>
          </p:cNvPicPr>
          <p:nvPr/>
        </p:nvPicPr>
        <p:blipFill>
          <a:blip r:embed="rId2"/>
          <a:stretch>
            <a:fillRect/>
          </a:stretch>
        </p:blipFill>
        <p:spPr>
          <a:xfrm>
            <a:off x="640080" y="1828800"/>
            <a:ext cx="10847500" cy="2514600"/>
          </a:xfrm>
          <a:prstGeom prst="rect">
            <a:avLst/>
          </a:prstGeom>
          <a:ln w="15875">
            <a:solidFill>
              <a:srgbClr val="C9CFCB"/>
            </a:solidFill>
          </a:ln>
        </p:spPr>
      </p:pic>
      <p:sp>
        <p:nvSpPr>
          <p:cNvPr id="6" name="Rounded Rectangle 5"/>
          <p:cNvSpPr/>
          <p:nvPr/>
        </p:nvSpPr>
        <p:spPr>
          <a:xfrm>
            <a:off x="640080" y="4663440"/>
            <a:ext cx="5120640" cy="146304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773168"/>
            <a:ext cx="4572000" cy="1325880"/>
          </a:xfrm>
          <a:prstGeom prst="rect">
            <a:avLst/>
          </a:prstGeom>
          <a:noFill/>
        </p:spPr>
        <p:txBody>
          <a:bodyPr wrap="square" lIns="0" rIns="0" tIns="0" bIns="0" anchor="t">
            <a:spAutoFit/>
          </a:bodyPr>
          <a:lstStyle/>
          <a:p>
            <a:pPr algn="l">
              <a:lnSpc>
                <a:spcPct val="112000"/>
              </a:lnSpc>
            </a:pPr>
            <a:r>
              <a:rPr sz="2100" b="0">
                <a:solidFill>
                  <a:srgbClr val="C9D4D8"/>
                </a:solidFill>
                <a:latin typeface="Segoe UI"/>
              </a:rPr>
              <a:t>Quote  </a:t>
            </a:r>
            <a:r>
              <a:rPr sz="2100" b="1">
                <a:solidFill>
                  <a:srgbClr val="FFFFFF"/>
                </a:solidFill>
                <a:latin typeface="Segoe UI"/>
              </a:rPr>
              <a:t>৳4,000</a:t>
            </a:r>
          </a:p>
          <a:p>
            <a:pPr algn="l">
              <a:lnSpc>
                <a:spcPct val="112000"/>
              </a:lnSpc>
            </a:pPr>
            <a:r>
              <a:rPr sz="2100" b="0">
                <a:solidFill>
                  <a:srgbClr val="C9D4D8"/>
                </a:solidFill>
                <a:latin typeface="Segoe UI"/>
              </a:rPr>
              <a:t>Inspection fee paid  </a:t>
            </a:r>
            <a:r>
              <a:rPr sz="2100" b="1">
                <a:solidFill>
                  <a:srgbClr val="FFFFFF"/>
                </a:solidFill>
                <a:latin typeface="Segoe UI"/>
              </a:rPr>
              <a:t>− ৳200</a:t>
            </a:r>
          </a:p>
          <a:p>
            <a:pPr algn="l">
              <a:lnSpc>
                <a:spcPct val="112000"/>
              </a:lnSpc>
            </a:pPr>
            <a:r>
              <a:rPr sz="2100" b="0">
                <a:solidFill>
                  <a:srgbClr val="F2B138"/>
                </a:solidFill>
                <a:latin typeface="Segoe UI"/>
              </a:rPr>
              <a:t>Left to pay  </a:t>
            </a:r>
            <a:r>
              <a:rPr sz="2100" b="1">
                <a:solidFill>
                  <a:srgbClr val="F2B138"/>
                </a:solidFill>
                <a:latin typeface="Segoe UI"/>
              </a:rPr>
              <a:t>৳3,800</a:t>
            </a:r>
          </a:p>
        </p:txBody>
      </p:sp>
      <p:sp>
        <p:nvSpPr>
          <p:cNvPr id="8" name="TextBox 7"/>
          <p:cNvSpPr txBox="1"/>
          <p:nvPr/>
        </p:nvSpPr>
        <p:spPr>
          <a:xfrm>
            <a:off x="6126480" y="4709160"/>
            <a:ext cx="5422392" cy="182880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0F2430"/>
                </a:solidFill>
                <a:latin typeface="Segoe UI"/>
              </a:rPr>
              <a:t>Ranked by rating, reliability, price, district, reply time</a:t>
            </a:r>
          </a:p>
          <a:p>
            <a:pPr marL="321310" indent="-321310">
              <a:lnSpc>
                <a:spcPct val="105000"/>
              </a:lnSpc>
              <a:spcAft>
                <a:spcPts val="1000"/>
              </a:spcAft>
              <a:buClr>
                <a:srgbClr val="F2B138"/>
              </a:buClr>
              <a:buSzPct val="100000"/>
              <a:buFont typeface="Arial"/>
              <a:buChar char="•"/>
            </a:pPr>
            <a:r>
              <a:rPr sz="2200" b="0">
                <a:solidFill>
                  <a:srgbClr val="0F2430"/>
                </a:solidFill>
                <a:latin typeface="Segoe UI"/>
              </a:rPr>
              <a:t>Approve and pay in one step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NEW IN THE FINAL PHASE</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30-day warranty, and no repair can get stuck</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7/11</a:t>
            </a:r>
          </a:p>
        </p:txBody>
      </p:sp>
      <p:pic>
        <p:nvPicPr>
          <p:cNvPr id="5" name="Picture 4" descr="warranty.png"/>
          <p:cNvPicPr>
            <a:picLocks noChangeAspect="1"/>
          </p:cNvPicPr>
          <p:nvPr/>
        </p:nvPicPr>
        <p:blipFill>
          <a:blip r:embed="rId2"/>
          <a:stretch>
            <a:fillRect/>
          </a:stretch>
        </p:blipFill>
        <p:spPr>
          <a:xfrm>
            <a:off x="640080" y="1828800"/>
            <a:ext cx="8808256" cy="2606040"/>
          </a:xfrm>
          <a:prstGeom prst="rect">
            <a:avLst/>
          </a:prstGeom>
          <a:ln w="15875">
            <a:solidFill>
              <a:srgbClr val="C9CFCB"/>
            </a:solidFill>
          </a:ln>
        </p:spPr>
      </p:pic>
      <p:sp>
        <p:nvSpPr>
          <p:cNvPr id="6" name="TextBox 5"/>
          <p:cNvSpPr txBox="1"/>
          <p:nvPr/>
        </p:nvSpPr>
        <p:spPr>
          <a:xfrm>
            <a:off x="640080" y="4754880"/>
            <a:ext cx="4937760" cy="173736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0F2430"/>
                </a:solidFill>
                <a:latin typeface="Segoe UI"/>
              </a:rPr>
              <a:t>Free re-inspection</a:t>
            </a:r>
          </a:p>
          <a:p>
            <a:pPr marL="321310" indent="-321310">
              <a:lnSpc>
                <a:spcPct val="105000"/>
              </a:lnSpc>
              <a:spcAft>
                <a:spcPts val="1000"/>
              </a:spcAft>
              <a:buClr>
                <a:srgbClr val="F2B138"/>
              </a:buClr>
              <a:buSzPct val="100000"/>
              <a:buFont typeface="Arial"/>
              <a:buChar char="•"/>
            </a:pPr>
            <a:r>
              <a:rPr sz="2200" b="0">
                <a:solidFill>
                  <a:srgbClr val="0F2430"/>
                </a:solidFill>
                <a:latin typeface="Segoe UI"/>
              </a:rPr>
              <a:t>Covered: re-repair or refund</a:t>
            </a:r>
          </a:p>
        </p:txBody>
      </p:sp>
      <p:sp>
        <p:nvSpPr>
          <p:cNvPr id="7" name="Rounded Rectangle 6"/>
          <p:cNvSpPr/>
          <p:nvPr/>
        </p:nvSpPr>
        <p:spPr>
          <a:xfrm>
            <a:off x="5852160" y="4709160"/>
            <a:ext cx="5696712" cy="160020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4846320"/>
            <a:ext cx="5303520" cy="411480"/>
          </a:xfrm>
          <a:prstGeom prst="rect">
            <a:avLst/>
          </a:prstGeom>
          <a:noFill/>
        </p:spPr>
        <p:txBody>
          <a:bodyPr wrap="square" lIns="0" rIns="0" tIns="0" bIns="0" anchor="t">
            <a:spAutoFit/>
          </a:bodyPr>
          <a:lstStyle/>
          <a:p>
            <a:pPr algn="l">
              <a:lnSpc>
                <a:spcPct val="110000"/>
              </a:lnSpc>
            </a:pPr>
            <a:r>
              <a:rPr sz="2200" b="1">
                <a:solidFill>
                  <a:srgbClr val="F2B138"/>
                </a:solidFill>
                <a:latin typeface="Segoe UI"/>
              </a:rPr>
              <a:t>Every wait has a deadline</a:t>
            </a:r>
          </a:p>
        </p:txBody>
      </p:sp>
      <p:sp>
        <p:nvSpPr>
          <p:cNvPr id="9" name="TextBox 8"/>
          <p:cNvSpPr txBox="1"/>
          <p:nvPr/>
        </p:nvSpPr>
        <p:spPr>
          <a:xfrm>
            <a:off x="6172200" y="5349240"/>
            <a:ext cx="2651760" cy="914400"/>
          </a:xfrm>
          <a:prstGeom prst="rect">
            <a:avLst/>
          </a:prstGeom>
          <a:noFill/>
        </p:spPr>
        <p:txBody>
          <a:bodyPr wrap="square" lIns="0" rIns="0" tIns="0" bIns="0" anchor="t">
            <a:spAutoFit/>
          </a:bodyPr>
          <a:lstStyle/>
          <a:p>
            <a:pPr marL="262890" indent="-262890">
              <a:lnSpc>
                <a:spcPct val="105000"/>
              </a:lnSpc>
              <a:spcAft>
                <a:spcPts val="400"/>
              </a:spcAft>
              <a:buClr>
                <a:srgbClr val="F2B138"/>
              </a:buClr>
              <a:buSzPct val="100000"/>
              <a:buFont typeface="Arial"/>
              <a:buChar char="•"/>
            </a:pPr>
            <a:r>
              <a:rPr sz="1800" b="0">
                <a:solidFill>
                  <a:srgbClr val="FFFFFF"/>
                </a:solidFill>
                <a:latin typeface="Segoe UI"/>
              </a:rPr>
              <a:t>Unpaid quote: 3 days</a:t>
            </a:r>
          </a:p>
          <a:p>
            <a:pPr marL="262890" indent="-262890">
              <a:lnSpc>
                <a:spcPct val="105000"/>
              </a:lnSpc>
              <a:spcAft>
                <a:spcPts val="400"/>
              </a:spcAft>
              <a:buClr>
                <a:srgbClr val="F2B138"/>
              </a:buClr>
              <a:buSzPct val="100000"/>
              <a:buFont typeface="Arial"/>
              <a:buChar char="•"/>
            </a:pPr>
            <a:r>
              <a:rPr sz="1800" b="0">
                <a:solidFill>
                  <a:srgbClr val="FFFFFF"/>
                </a:solidFill>
                <a:latin typeface="Segoe UI"/>
              </a:rPr>
              <a:t>Receipt: auto, 3 days</a:t>
            </a:r>
          </a:p>
        </p:txBody>
      </p:sp>
      <p:sp>
        <p:nvSpPr>
          <p:cNvPr id="10" name="TextBox 9"/>
          <p:cNvSpPr txBox="1"/>
          <p:nvPr/>
        </p:nvSpPr>
        <p:spPr>
          <a:xfrm>
            <a:off x="8869680" y="5349240"/>
            <a:ext cx="2560320" cy="914400"/>
          </a:xfrm>
          <a:prstGeom prst="rect">
            <a:avLst/>
          </a:prstGeom>
          <a:noFill/>
        </p:spPr>
        <p:txBody>
          <a:bodyPr wrap="square" lIns="0" rIns="0" tIns="0" bIns="0" anchor="t">
            <a:spAutoFit/>
          </a:bodyPr>
          <a:lstStyle/>
          <a:p>
            <a:pPr marL="262890" indent="-262890">
              <a:lnSpc>
                <a:spcPct val="105000"/>
              </a:lnSpc>
              <a:spcAft>
                <a:spcPts val="400"/>
              </a:spcAft>
              <a:buClr>
                <a:srgbClr val="F2B138"/>
              </a:buClr>
              <a:buSzPct val="100000"/>
              <a:buFont typeface="Arial"/>
              <a:buChar char="•"/>
            </a:pPr>
            <a:r>
              <a:rPr sz="1800" b="0">
                <a:solidFill>
                  <a:srgbClr val="FFFFFF"/>
                </a:solidFill>
                <a:latin typeface="Segoe UI"/>
              </a:rPr>
              <a:t>Can't finish: refund</a:t>
            </a:r>
          </a:p>
          <a:p>
            <a:pPr marL="262890" indent="-262890">
              <a:lnSpc>
                <a:spcPct val="105000"/>
              </a:lnSpc>
              <a:spcAft>
                <a:spcPts val="400"/>
              </a:spcAft>
              <a:buClr>
                <a:srgbClr val="F2B138"/>
              </a:buClr>
              <a:buSzPct val="100000"/>
              <a:buFont typeface="Arial"/>
              <a:buChar char="•"/>
            </a:pPr>
            <a:r>
              <a:rPr sz="1800" b="0">
                <a:solidFill>
                  <a:srgbClr val="FFFFFF"/>
                </a:solidFill>
                <a:latin typeface="Segoe UI"/>
              </a:rPr>
              <a:t>Stalled: admin alert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APPLIED AI (GOOGLE GEMINI)</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AI suggests, people decide</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8/11</a:t>
            </a:r>
          </a:p>
        </p:txBody>
      </p:sp>
      <p:pic>
        <p:nvPicPr>
          <p:cNvPr id="5" name="Picture 4" descr="chat.png"/>
          <p:cNvPicPr>
            <a:picLocks noChangeAspect="1"/>
          </p:cNvPicPr>
          <p:nvPr/>
        </p:nvPicPr>
        <p:blipFill>
          <a:blip r:embed="rId2"/>
          <a:stretch>
            <a:fillRect/>
          </a:stretch>
        </p:blipFill>
        <p:spPr>
          <a:xfrm>
            <a:off x="640080" y="1783080"/>
            <a:ext cx="3942080" cy="4434840"/>
          </a:xfrm>
          <a:prstGeom prst="rect">
            <a:avLst/>
          </a:prstGeom>
          <a:ln w="15875">
            <a:solidFill>
              <a:srgbClr val="C9CFCB"/>
            </a:solidFill>
          </a:ln>
        </p:spPr>
      </p:pic>
      <p:sp>
        <p:nvSpPr>
          <p:cNvPr id="6" name="TextBox 5"/>
          <p:cNvSpPr txBox="1"/>
          <p:nvPr/>
        </p:nvSpPr>
        <p:spPr>
          <a:xfrm>
            <a:off x="4947920" y="1920240"/>
            <a:ext cx="2926080" cy="4206240"/>
          </a:xfrm>
          <a:prstGeom prst="rect">
            <a:avLst/>
          </a:prstGeom>
          <a:noFill/>
        </p:spPr>
        <p:txBody>
          <a:bodyPr wrap="square" lIns="0" rIns="0" tIns="0" bIns="0" anchor="t">
            <a:spAutoFit/>
          </a:bodyPr>
          <a:lstStyle/>
          <a:p>
            <a:pPr marL="321310" indent="-321310">
              <a:lnSpc>
                <a:spcPct val="105000"/>
              </a:lnSpc>
              <a:spcAft>
                <a:spcPts val="1000"/>
              </a:spcAft>
              <a:buClr>
                <a:srgbClr val="F2B138"/>
              </a:buClr>
              <a:buSzPct val="100000"/>
              <a:buFont typeface="Arial"/>
              <a:buChar char="•"/>
            </a:pPr>
            <a:r>
              <a:rPr sz="2200" b="0">
                <a:solidFill>
                  <a:srgbClr val="0F2430"/>
                </a:solidFill>
                <a:latin typeface="Segoe UI"/>
              </a:rPr>
              <a:t>Request helper</a:t>
            </a:r>
          </a:p>
          <a:p>
            <a:pPr marL="321310" indent="-321310">
              <a:lnSpc>
                <a:spcPct val="105000"/>
              </a:lnSpc>
              <a:spcAft>
                <a:spcPts val="1000"/>
              </a:spcAft>
              <a:buClr>
                <a:srgbClr val="F2B138"/>
              </a:buClr>
              <a:buSzPct val="100000"/>
              <a:buFont typeface="Arial"/>
              <a:buChar char="•"/>
            </a:pPr>
            <a:r>
              <a:rPr sz="2200" b="0">
                <a:solidFill>
                  <a:srgbClr val="0F2430"/>
                </a:solidFill>
                <a:latin typeface="Segoe UI"/>
              </a:rPr>
              <a:t>Offer note</a:t>
            </a:r>
          </a:p>
          <a:p>
            <a:pPr marL="321310" indent="-321310">
              <a:lnSpc>
                <a:spcPct val="105000"/>
              </a:lnSpc>
              <a:spcAft>
                <a:spcPts val="1000"/>
              </a:spcAft>
              <a:buClr>
                <a:srgbClr val="F2B138"/>
              </a:buClr>
              <a:buSzPct val="100000"/>
              <a:buFont typeface="Arial"/>
              <a:buChar char="•"/>
            </a:pPr>
            <a:r>
              <a:rPr sz="2200" b="0">
                <a:solidFill>
                  <a:srgbClr val="0F2430"/>
                </a:solidFill>
                <a:latin typeface="Segoe UI"/>
              </a:rPr>
              <a:t>Support chat</a:t>
            </a:r>
          </a:p>
          <a:p>
            <a:pPr marL="321310" indent="-321310">
              <a:lnSpc>
                <a:spcPct val="105000"/>
              </a:lnSpc>
              <a:spcAft>
                <a:spcPts val="1000"/>
              </a:spcAft>
              <a:buClr>
                <a:srgbClr val="F2B138"/>
              </a:buClr>
              <a:buSzPct val="100000"/>
              <a:buFont typeface="Arial"/>
              <a:buChar char="•"/>
            </a:pPr>
            <a:r>
              <a:rPr sz="2200" b="0">
                <a:solidFill>
                  <a:srgbClr val="0F2430"/>
                </a:solidFill>
                <a:latin typeface="Segoe UI"/>
              </a:rPr>
              <a:t>Report summary</a:t>
            </a:r>
          </a:p>
        </p:txBody>
      </p:sp>
      <p:sp>
        <p:nvSpPr>
          <p:cNvPr id="7" name="Rounded Rectangle 6"/>
          <p:cNvSpPr/>
          <p:nvPr/>
        </p:nvSpPr>
        <p:spPr>
          <a:xfrm>
            <a:off x="7982712" y="1783080"/>
            <a:ext cx="3566160" cy="443484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2011680"/>
            <a:ext cx="3017520" cy="457200"/>
          </a:xfrm>
          <a:prstGeom prst="rect">
            <a:avLst/>
          </a:prstGeom>
          <a:noFill/>
        </p:spPr>
        <p:txBody>
          <a:bodyPr wrap="square" lIns="0" rIns="0" tIns="0" bIns="0" anchor="t">
            <a:spAutoFit/>
          </a:bodyPr>
          <a:lstStyle/>
          <a:p>
            <a:pPr algn="l">
              <a:lnSpc>
                <a:spcPct val="110000"/>
              </a:lnSpc>
            </a:pPr>
            <a:r>
              <a:rPr sz="2200" b="1">
                <a:solidFill>
                  <a:srgbClr val="F2B138"/>
                </a:solidFill>
                <a:latin typeface="Segoe UI"/>
              </a:rPr>
              <a:t>Guardrails</a:t>
            </a:r>
          </a:p>
        </p:txBody>
      </p:sp>
      <p:sp>
        <p:nvSpPr>
          <p:cNvPr id="9" name="TextBox 8"/>
          <p:cNvSpPr txBox="1"/>
          <p:nvPr/>
        </p:nvSpPr>
        <p:spPr>
          <a:xfrm>
            <a:off x="8302752" y="2606040"/>
            <a:ext cx="3017520" cy="3474720"/>
          </a:xfrm>
          <a:prstGeom prst="rect">
            <a:avLst/>
          </a:prstGeom>
          <a:noFill/>
        </p:spPr>
        <p:txBody>
          <a:bodyPr wrap="square" lIns="0" rIns="0" tIns="0" bIns="0" anchor="t">
            <a:spAutoFit/>
          </a:bodyPr>
          <a:lstStyle/>
          <a:p>
            <a:pPr marL="292100" indent="-292100">
              <a:lnSpc>
                <a:spcPct val="105000"/>
              </a:lnSpc>
              <a:spcAft>
                <a:spcPts val="1200"/>
              </a:spcAft>
              <a:buClr>
                <a:srgbClr val="F2B138"/>
              </a:buClr>
              <a:buSzPct val="100000"/>
              <a:buFont typeface="Arial"/>
              <a:buChar char="•"/>
            </a:pPr>
            <a:r>
              <a:rPr sz="2000" b="0">
                <a:solidFill>
                  <a:srgbClr val="FFFFFF"/>
                </a:solidFill>
                <a:latin typeface="Segoe UI"/>
              </a:rPr>
              <a:t>Never sets a price</a:t>
            </a:r>
          </a:p>
          <a:p>
            <a:pPr marL="292100" indent="-292100">
              <a:lnSpc>
                <a:spcPct val="105000"/>
              </a:lnSpc>
              <a:spcAft>
                <a:spcPts val="1200"/>
              </a:spcAft>
              <a:buClr>
                <a:srgbClr val="F2B138"/>
              </a:buClr>
              <a:buSzPct val="100000"/>
              <a:buFont typeface="Arial"/>
              <a:buChar char="•"/>
            </a:pPr>
            <a:r>
              <a:rPr sz="2000" b="0">
                <a:solidFill>
                  <a:srgbClr val="FFFFFF"/>
                </a:solidFill>
                <a:latin typeface="Segoe UI"/>
              </a:rPr>
              <a:t>Checked against live data</a:t>
            </a:r>
          </a:p>
          <a:p>
            <a:pPr marL="292100" indent="-292100">
              <a:lnSpc>
                <a:spcPct val="105000"/>
              </a:lnSpc>
              <a:spcAft>
                <a:spcPts val="1200"/>
              </a:spcAft>
              <a:buClr>
                <a:srgbClr val="F2B138"/>
              </a:buClr>
              <a:buSzPct val="100000"/>
              <a:buFont typeface="Arial"/>
              <a:buChar char="•"/>
            </a:pPr>
            <a:r>
              <a:rPr sz="2000" b="0">
                <a:solidFill>
                  <a:srgbClr val="FFFFFF"/>
                </a:solidFill>
                <a:latin typeface="Segoe UI"/>
              </a:rPr>
              <a:t>No personal data sent</a:t>
            </a:r>
          </a:p>
          <a:p>
            <a:pPr marL="292100" indent="-292100">
              <a:lnSpc>
                <a:spcPct val="105000"/>
              </a:lnSpc>
              <a:spcAft>
                <a:spcPts val="1200"/>
              </a:spcAft>
              <a:buClr>
                <a:srgbClr val="F2B138"/>
              </a:buClr>
              <a:buSzPct val="100000"/>
              <a:buFont typeface="Arial"/>
              <a:buChar char="•"/>
            </a:pPr>
            <a:r>
              <a:rPr sz="2000" b="0">
                <a:solidFill>
                  <a:srgbClr val="FFFFFF"/>
                </a:solidFill>
                <a:latin typeface="Segoe UI"/>
              </a:rPr>
              <a:t>Daily usage limits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ARCHITECTURE</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Built so money and state never get out of sync</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9/11</a:t>
            </a:r>
          </a:p>
        </p:txBody>
      </p:sp>
      <p:sp>
        <p:nvSpPr>
          <p:cNvPr id="5" name="Rounded Rectangle 4"/>
          <p:cNvSpPr/>
          <p:nvPr/>
        </p:nvSpPr>
        <p:spPr>
          <a:xfrm>
            <a:off x="640080" y="1828800"/>
            <a:ext cx="3392424" cy="109728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56816"/>
            <a:ext cx="3392424" cy="457200"/>
          </a:xfrm>
          <a:prstGeom prst="rect">
            <a:avLst/>
          </a:prstGeom>
          <a:noFill/>
        </p:spPr>
        <p:txBody>
          <a:bodyPr wrap="square" lIns="0" rIns="0" tIns="0" bIns="0" anchor="t">
            <a:spAutoFit/>
          </a:bodyPr>
          <a:lstStyle/>
          <a:p>
            <a:pPr algn="ctr">
              <a:lnSpc>
                <a:spcPct val="110000"/>
              </a:lnSpc>
            </a:pPr>
            <a:r>
              <a:rPr sz="2200" b="1">
                <a:solidFill>
                  <a:srgbClr val="FFFFFF"/>
                </a:solidFill>
                <a:latin typeface="Segoe UI"/>
              </a:rPr>
              <a:t>React 19</a:t>
            </a:r>
          </a:p>
        </p:txBody>
      </p:sp>
      <p:sp>
        <p:nvSpPr>
          <p:cNvPr id="7" name="TextBox 6"/>
          <p:cNvSpPr txBox="1"/>
          <p:nvPr/>
        </p:nvSpPr>
        <p:spPr>
          <a:xfrm>
            <a:off x="640080" y="2450592"/>
            <a:ext cx="3392424" cy="411480"/>
          </a:xfrm>
          <a:prstGeom prst="rect">
            <a:avLst/>
          </a:prstGeom>
          <a:noFill/>
        </p:spPr>
        <p:txBody>
          <a:bodyPr wrap="square" lIns="0" rIns="0" tIns="0" bIns="0" anchor="t">
            <a:spAutoFit/>
          </a:bodyPr>
          <a:lstStyle/>
          <a:p>
            <a:pPr algn="ctr">
              <a:lnSpc>
                <a:spcPct val="110000"/>
              </a:lnSpc>
            </a:pPr>
            <a:r>
              <a:rPr sz="1700" b="0">
                <a:solidFill>
                  <a:srgbClr val="C9D4D8"/>
                </a:solidFill>
                <a:latin typeface="Segoe UI"/>
              </a:rPr>
              <a:t>web client</a:t>
            </a:r>
          </a:p>
        </p:txBody>
      </p:sp>
      <p:sp>
        <p:nvSpPr>
          <p:cNvPr id="8" name="Rounded Rectangle 7"/>
          <p:cNvSpPr/>
          <p:nvPr/>
        </p:nvSpPr>
        <p:spPr>
          <a:xfrm>
            <a:off x="4398264" y="1828800"/>
            <a:ext cx="3392424" cy="109728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98264" y="1956816"/>
            <a:ext cx="3392424" cy="457200"/>
          </a:xfrm>
          <a:prstGeom prst="rect">
            <a:avLst/>
          </a:prstGeom>
          <a:noFill/>
        </p:spPr>
        <p:txBody>
          <a:bodyPr wrap="square" lIns="0" rIns="0" tIns="0" bIns="0" anchor="t">
            <a:spAutoFit/>
          </a:bodyPr>
          <a:lstStyle/>
          <a:p>
            <a:pPr algn="ctr">
              <a:lnSpc>
                <a:spcPct val="110000"/>
              </a:lnSpc>
            </a:pPr>
            <a:r>
              <a:rPr sz="2200" b="1">
                <a:solidFill>
                  <a:srgbClr val="FFFFFF"/>
                </a:solidFill>
                <a:latin typeface="Segoe UI"/>
              </a:rPr>
              <a:t>Express 5 API</a:t>
            </a:r>
          </a:p>
        </p:txBody>
      </p:sp>
      <p:sp>
        <p:nvSpPr>
          <p:cNvPr id="10" name="TextBox 9"/>
          <p:cNvSpPr txBox="1"/>
          <p:nvPr/>
        </p:nvSpPr>
        <p:spPr>
          <a:xfrm>
            <a:off x="4398264" y="2450592"/>
            <a:ext cx="3392424" cy="411480"/>
          </a:xfrm>
          <a:prstGeom prst="rect">
            <a:avLst/>
          </a:prstGeom>
          <a:noFill/>
        </p:spPr>
        <p:txBody>
          <a:bodyPr wrap="square" lIns="0" rIns="0" tIns="0" bIns="0" anchor="t">
            <a:spAutoFit/>
          </a:bodyPr>
          <a:lstStyle/>
          <a:p>
            <a:pPr algn="ctr">
              <a:lnSpc>
                <a:spcPct val="110000"/>
              </a:lnSpc>
            </a:pPr>
            <a:r>
              <a:rPr sz="1700" b="0">
                <a:solidFill>
                  <a:srgbClr val="C9D4D8"/>
                </a:solidFill>
                <a:latin typeface="Segoe UI"/>
              </a:rPr>
              <a:t>Vercel, Mumbai</a:t>
            </a:r>
          </a:p>
        </p:txBody>
      </p:sp>
      <p:sp>
        <p:nvSpPr>
          <p:cNvPr id="11" name="Rounded Rectangle 10"/>
          <p:cNvSpPr/>
          <p:nvPr/>
        </p:nvSpPr>
        <p:spPr>
          <a:xfrm>
            <a:off x="8156448" y="1828800"/>
            <a:ext cx="3392424" cy="1097280"/>
          </a:xfrm>
          <a:prstGeom prst="roundRect">
            <a:avLst>
              <a:gd name="adj" fmla="val 6000"/>
            </a:avLst>
          </a:prstGeom>
          <a:solidFill>
            <a:srgbClr val="1E6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956816"/>
            <a:ext cx="3392424" cy="457200"/>
          </a:xfrm>
          <a:prstGeom prst="rect">
            <a:avLst/>
          </a:prstGeom>
          <a:noFill/>
        </p:spPr>
        <p:txBody>
          <a:bodyPr wrap="square" lIns="0" rIns="0" tIns="0" bIns="0" anchor="t">
            <a:spAutoFit/>
          </a:bodyPr>
          <a:lstStyle/>
          <a:p>
            <a:pPr algn="ctr">
              <a:lnSpc>
                <a:spcPct val="110000"/>
              </a:lnSpc>
            </a:pPr>
            <a:r>
              <a:rPr sz="2200" b="1">
                <a:solidFill>
                  <a:srgbClr val="FFFFFF"/>
                </a:solidFill>
                <a:latin typeface="Segoe UI"/>
              </a:rPr>
              <a:t>MongoDB Atlas</a:t>
            </a:r>
          </a:p>
        </p:txBody>
      </p:sp>
      <p:sp>
        <p:nvSpPr>
          <p:cNvPr id="13" name="TextBox 12"/>
          <p:cNvSpPr txBox="1"/>
          <p:nvPr/>
        </p:nvSpPr>
        <p:spPr>
          <a:xfrm>
            <a:off x="8156448" y="2450592"/>
            <a:ext cx="3392424" cy="411480"/>
          </a:xfrm>
          <a:prstGeom prst="rect">
            <a:avLst/>
          </a:prstGeom>
          <a:noFill/>
        </p:spPr>
        <p:txBody>
          <a:bodyPr wrap="square" lIns="0" rIns="0" tIns="0" bIns="0" anchor="t">
            <a:spAutoFit/>
          </a:bodyPr>
          <a:lstStyle/>
          <a:p>
            <a:pPr algn="ctr">
              <a:lnSpc>
                <a:spcPct val="110000"/>
              </a:lnSpc>
            </a:pPr>
            <a:r>
              <a:rPr sz="1700" b="0">
                <a:solidFill>
                  <a:srgbClr val="C9D4D8"/>
                </a:solidFill>
                <a:latin typeface="Segoe UI"/>
              </a:rPr>
              <a:t>21 collections</a:t>
            </a:r>
          </a:p>
        </p:txBody>
      </p:sp>
      <p:cxnSp>
        <p:nvCxnSpPr>
          <p:cNvPr id="14" name="Connector 13"/>
          <p:cNvCxnSpPr/>
          <p:nvPr/>
        </p:nvCxnSpPr>
        <p:spPr>
          <a:xfrm>
            <a:off x="4032504" y="2377440"/>
            <a:ext cx="365760" cy="0"/>
          </a:xfrm>
          <a:prstGeom prst="line">
            <a:avLst/>
          </a:prstGeom>
          <a:ln w="25400">
            <a:solidFill>
              <a:srgbClr val="45555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90688" y="2377440"/>
            <a:ext cx="365760" cy="0"/>
          </a:xfrm>
          <a:prstGeom prst="line">
            <a:avLst/>
          </a:prstGeom>
          <a:ln w="25400">
            <a:solidFill>
              <a:srgbClr val="45555D"/>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108960"/>
            <a:ext cx="10908792" cy="41148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Firebase sign-in  ·  Stripe payments  ·  Supabase photos  ·  Gemini AI  ·  Gmail</a:t>
            </a:r>
          </a:p>
        </p:txBody>
      </p:sp>
      <p:sp>
        <p:nvSpPr>
          <p:cNvPr id="17" name="Rounded Rectangle 16"/>
          <p:cNvSpPr/>
          <p:nvPr/>
        </p:nvSpPr>
        <p:spPr>
          <a:xfrm>
            <a:off x="640080" y="3794760"/>
            <a:ext cx="3392424" cy="2194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794760"/>
            <a:ext cx="3392424" cy="109728"/>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114800"/>
            <a:ext cx="2843784" cy="457200"/>
          </a:xfrm>
          <a:prstGeom prst="rect">
            <a:avLst/>
          </a:prstGeom>
          <a:noFill/>
        </p:spPr>
        <p:txBody>
          <a:bodyPr wrap="square" lIns="0" rIns="0" tIns="0" bIns="0" anchor="t">
            <a:spAutoFit/>
          </a:bodyPr>
          <a:lstStyle/>
          <a:p>
            <a:pPr algn="l">
              <a:lnSpc>
                <a:spcPct val="110000"/>
              </a:lnSpc>
            </a:pPr>
            <a:r>
              <a:rPr sz="2400" b="1">
                <a:solidFill>
                  <a:srgbClr val="1E6F63"/>
                </a:solidFill>
                <a:latin typeface="Segoe UI"/>
              </a:rPr>
              <a:t>Server decides</a:t>
            </a:r>
          </a:p>
        </p:txBody>
      </p:sp>
      <p:sp>
        <p:nvSpPr>
          <p:cNvPr id="20" name="TextBox 19"/>
          <p:cNvSpPr txBox="1"/>
          <p:nvPr/>
        </p:nvSpPr>
        <p:spPr>
          <a:xfrm>
            <a:off x="914400" y="4709160"/>
            <a:ext cx="2843784" cy="1188720"/>
          </a:xfrm>
          <a:prstGeom prst="rect">
            <a:avLst/>
          </a:prstGeom>
          <a:noFill/>
        </p:spPr>
        <p:txBody>
          <a:bodyPr wrap="square" lIns="0" rIns="0" tIns="0" bIns="0" anchor="t">
            <a:spAutoFit/>
          </a:bodyPr>
          <a:lstStyle/>
          <a:p>
            <a:pPr algn="l">
              <a:lnSpc>
                <a:spcPct val="110000"/>
              </a:lnSpc>
            </a:pPr>
            <a:r>
              <a:rPr sz="2000" b="0">
                <a:solidFill>
                  <a:srgbClr val="0F2430"/>
                </a:solidFill>
                <a:latin typeface="Segoe UI"/>
              </a:rPr>
              <a:t>role and state checked on every action</a:t>
            </a:r>
          </a:p>
        </p:txBody>
      </p:sp>
      <p:sp>
        <p:nvSpPr>
          <p:cNvPr id="21" name="Rounded Rectangle 20"/>
          <p:cNvSpPr/>
          <p:nvPr/>
        </p:nvSpPr>
        <p:spPr>
          <a:xfrm>
            <a:off x="4398264" y="3794760"/>
            <a:ext cx="3392424" cy="2194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98264" y="3794760"/>
            <a:ext cx="3392424" cy="109728"/>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72584" y="4114800"/>
            <a:ext cx="2843784" cy="457200"/>
          </a:xfrm>
          <a:prstGeom prst="rect">
            <a:avLst/>
          </a:prstGeom>
          <a:noFill/>
        </p:spPr>
        <p:txBody>
          <a:bodyPr wrap="square" lIns="0" rIns="0" tIns="0" bIns="0" anchor="t">
            <a:spAutoFit/>
          </a:bodyPr>
          <a:lstStyle/>
          <a:p>
            <a:pPr algn="l">
              <a:lnSpc>
                <a:spcPct val="110000"/>
              </a:lnSpc>
            </a:pPr>
            <a:r>
              <a:rPr sz="2400" b="1">
                <a:solidFill>
                  <a:srgbClr val="1E6F63"/>
                </a:solidFill>
                <a:latin typeface="Segoe UI"/>
              </a:rPr>
              <a:t>All-or-nothing</a:t>
            </a:r>
          </a:p>
        </p:txBody>
      </p:sp>
      <p:sp>
        <p:nvSpPr>
          <p:cNvPr id="24" name="TextBox 23"/>
          <p:cNvSpPr txBox="1"/>
          <p:nvPr/>
        </p:nvSpPr>
        <p:spPr>
          <a:xfrm>
            <a:off x="4672584" y="4709160"/>
            <a:ext cx="2843784" cy="1188720"/>
          </a:xfrm>
          <a:prstGeom prst="rect">
            <a:avLst/>
          </a:prstGeom>
          <a:noFill/>
        </p:spPr>
        <p:txBody>
          <a:bodyPr wrap="square" lIns="0" rIns="0" tIns="0" bIns="0" anchor="t">
            <a:spAutoFit/>
          </a:bodyPr>
          <a:lstStyle/>
          <a:p>
            <a:pPr algn="l">
              <a:lnSpc>
                <a:spcPct val="110000"/>
              </a:lnSpc>
            </a:pPr>
            <a:r>
              <a:rPr sz="2000" b="0">
                <a:solidFill>
                  <a:srgbClr val="0F2430"/>
                </a:solidFill>
                <a:latin typeface="Segoe UI"/>
              </a:rPr>
              <a:t>booking, payment, refunds in transactions</a:t>
            </a:r>
          </a:p>
        </p:txBody>
      </p:sp>
      <p:sp>
        <p:nvSpPr>
          <p:cNvPr id="25" name="Rounded Rectangle 24"/>
          <p:cNvSpPr/>
          <p:nvPr/>
        </p:nvSpPr>
        <p:spPr>
          <a:xfrm>
            <a:off x="8156448" y="3794760"/>
            <a:ext cx="3392424" cy="219456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6448" y="3794760"/>
            <a:ext cx="3392424" cy="109728"/>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0768" y="4114800"/>
            <a:ext cx="2843784" cy="457200"/>
          </a:xfrm>
          <a:prstGeom prst="rect">
            <a:avLst/>
          </a:prstGeom>
          <a:noFill/>
        </p:spPr>
        <p:txBody>
          <a:bodyPr wrap="square" lIns="0" rIns="0" tIns="0" bIns="0" anchor="t">
            <a:spAutoFit/>
          </a:bodyPr>
          <a:lstStyle/>
          <a:p>
            <a:pPr algn="l">
              <a:lnSpc>
                <a:spcPct val="110000"/>
              </a:lnSpc>
            </a:pPr>
            <a:r>
              <a:rPr sz="2400" b="1">
                <a:solidFill>
                  <a:srgbClr val="1E6F63"/>
                </a:solidFill>
                <a:latin typeface="Segoe UI"/>
              </a:rPr>
              <a:t>Exactly once</a:t>
            </a:r>
          </a:p>
        </p:txBody>
      </p:sp>
      <p:sp>
        <p:nvSpPr>
          <p:cNvPr id="28" name="TextBox 27"/>
          <p:cNvSpPr txBox="1"/>
          <p:nvPr/>
        </p:nvSpPr>
        <p:spPr>
          <a:xfrm>
            <a:off x="8430768" y="4709160"/>
            <a:ext cx="2843784" cy="1188720"/>
          </a:xfrm>
          <a:prstGeom prst="rect">
            <a:avLst/>
          </a:prstGeom>
          <a:noFill/>
        </p:spPr>
        <p:txBody>
          <a:bodyPr wrap="square" lIns="0" rIns="0" tIns="0" bIns="0" anchor="t">
            <a:spAutoFit/>
          </a:bodyPr>
          <a:lstStyle/>
          <a:p>
            <a:pPr algn="l">
              <a:lnSpc>
                <a:spcPct val="110000"/>
              </a:lnSpc>
            </a:pPr>
            <a:r>
              <a:rPr sz="2000" b="0">
                <a:solidFill>
                  <a:srgbClr val="0F2430"/>
                </a:solidFill>
                <a:latin typeface="Segoe UI"/>
              </a:rPr>
              <a:t>no double payment, no double booking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TextBox 1"/>
          <p:cNvSpPr txBox="1"/>
          <p:nvPr/>
        </p:nvSpPr>
        <p:spPr>
          <a:xfrm>
            <a:off x="640080" y="411480"/>
            <a:ext cx="8229600" cy="365760"/>
          </a:xfrm>
          <a:prstGeom prst="rect">
            <a:avLst/>
          </a:prstGeom>
          <a:noFill/>
        </p:spPr>
        <p:txBody>
          <a:bodyPr wrap="square" lIns="0" rIns="0" tIns="0" bIns="0" anchor="t">
            <a:spAutoFit/>
          </a:bodyPr>
          <a:lstStyle/>
          <a:p>
            <a:pPr algn="l">
              <a:lnSpc>
                <a:spcPct val="110000"/>
              </a:lnSpc>
            </a:pPr>
            <a:r>
              <a:rPr sz="1600" b="1">
                <a:solidFill>
                  <a:srgbClr val="1E6F63"/>
                </a:solidFill>
                <a:latin typeface="Segoe UI"/>
              </a:rPr>
              <a:t>RESULTS</a:t>
            </a:r>
          </a:p>
        </p:txBody>
      </p:sp>
      <p:sp>
        <p:nvSpPr>
          <p:cNvPr id="3" name="TextBox 2"/>
          <p:cNvSpPr txBox="1"/>
          <p:nvPr/>
        </p:nvSpPr>
        <p:spPr>
          <a:xfrm>
            <a:off x="640080" y="777240"/>
            <a:ext cx="10908792" cy="822960"/>
          </a:xfrm>
          <a:prstGeom prst="rect">
            <a:avLst/>
          </a:prstGeom>
          <a:noFill/>
        </p:spPr>
        <p:txBody>
          <a:bodyPr wrap="square" lIns="0" rIns="0" tIns="0" bIns="0" anchor="t">
            <a:spAutoFit/>
          </a:bodyPr>
          <a:lstStyle/>
          <a:p>
            <a:pPr algn="l">
              <a:lnSpc>
                <a:spcPct val="110000"/>
              </a:lnSpc>
            </a:pPr>
            <a:r>
              <a:rPr sz="3800" b="1">
                <a:solidFill>
                  <a:srgbClr val="0F2430"/>
                </a:solidFill>
                <a:latin typeface="Segoe UI"/>
              </a:rPr>
              <a:t>Verified, deployed, and ready to grow</a:t>
            </a:r>
          </a:p>
        </p:txBody>
      </p:sp>
      <p:sp>
        <p:nvSpPr>
          <p:cNvPr id="4" name="TextBox 3"/>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10/11</a:t>
            </a:r>
          </a:p>
        </p:txBody>
      </p:sp>
      <p:sp>
        <p:nvSpPr>
          <p:cNvPr id="5" name="Rounded Rectangle 4"/>
          <p:cNvSpPr/>
          <p:nvPr/>
        </p:nvSpPr>
        <p:spPr>
          <a:xfrm>
            <a:off x="640080" y="1828800"/>
            <a:ext cx="2555748" cy="155448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65960"/>
            <a:ext cx="2555748" cy="777240"/>
          </a:xfrm>
          <a:prstGeom prst="rect">
            <a:avLst/>
          </a:prstGeom>
          <a:noFill/>
        </p:spPr>
        <p:txBody>
          <a:bodyPr wrap="square" lIns="0" rIns="0" tIns="0" bIns="0" anchor="t">
            <a:spAutoFit/>
          </a:bodyPr>
          <a:lstStyle/>
          <a:p>
            <a:pPr algn="ctr">
              <a:lnSpc>
                <a:spcPct val="110000"/>
              </a:lnSpc>
            </a:pPr>
            <a:r>
              <a:rPr sz="4200" b="1">
                <a:solidFill>
                  <a:srgbClr val="0F2430"/>
                </a:solidFill>
                <a:latin typeface="Segoe UI"/>
              </a:rPr>
              <a:t>2,761</a:t>
            </a:r>
          </a:p>
        </p:txBody>
      </p:sp>
      <p:sp>
        <p:nvSpPr>
          <p:cNvPr id="7" name="TextBox 6"/>
          <p:cNvSpPr txBox="1"/>
          <p:nvPr/>
        </p:nvSpPr>
        <p:spPr>
          <a:xfrm>
            <a:off x="640080" y="2788920"/>
            <a:ext cx="2555748" cy="4572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server tests pass</a:t>
            </a:r>
          </a:p>
        </p:txBody>
      </p:sp>
      <p:sp>
        <p:nvSpPr>
          <p:cNvPr id="8" name="Rounded Rectangle 7"/>
          <p:cNvSpPr/>
          <p:nvPr/>
        </p:nvSpPr>
        <p:spPr>
          <a:xfrm>
            <a:off x="3424428" y="1828800"/>
            <a:ext cx="2555748" cy="155448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4428" y="1965960"/>
            <a:ext cx="2555748" cy="777240"/>
          </a:xfrm>
          <a:prstGeom prst="rect">
            <a:avLst/>
          </a:prstGeom>
          <a:noFill/>
        </p:spPr>
        <p:txBody>
          <a:bodyPr wrap="square" lIns="0" rIns="0" tIns="0" bIns="0" anchor="t">
            <a:spAutoFit/>
          </a:bodyPr>
          <a:lstStyle/>
          <a:p>
            <a:pPr algn="ctr">
              <a:lnSpc>
                <a:spcPct val="110000"/>
              </a:lnSpc>
            </a:pPr>
            <a:r>
              <a:rPr sz="4200" b="1">
                <a:solidFill>
                  <a:srgbClr val="0F2430"/>
                </a:solidFill>
                <a:latin typeface="Segoe UI"/>
              </a:rPr>
              <a:t>58</a:t>
            </a:r>
          </a:p>
        </p:txBody>
      </p:sp>
      <p:sp>
        <p:nvSpPr>
          <p:cNvPr id="10" name="TextBox 9"/>
          <p:cNvSpPr txBox="1"/>
          <p:nvPr/>
        </p:nvSpPr>
        <p:spPr>
          <a:xfrm>
            <a:off x="3424428" y="2788920"/>
            <a:ext cx="2555748" cy="4572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browser tests pass</a:t>
            </a:r>
          </a:p>
        </p:txBody>
      </p:sp>
      <p:sp>
        <p:nvSpPr>
          <p:cNvPr id="11" name="Rounded Rectangle 10"/>
          <p:cNvSpPr/>
          <p:nvPr/>
        </p:nvSpPr>
        <p:spPr>
          <a:xfrm>
            <a:off x="6208776" y="1828800"/>
            <a:ext cx="2555748" cy="155448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965960"/>
            <a:ext cx="2555748" cy="777240"/>
          </a:xfrm>
          <a:prstGeom prst="rect">
            <a:avLst/>
          </a:prstGeom>
          <a:noFill/>
        </p:spPr>
        <p:txBody>
          <a:bodyPr wrap="square" lIns="0" rIns="0" tIns="0" bIns="0" anchor="t">
            <a:spAutoFit/>
          </a:bodyPr>
          <a:lstStyle/>
          <a:p>
            <a:pPr algn="ctr">
              <a:lnSpc>
                <a:spcPct val="110000"/>
              </a:lnSpc>
            </a:pPr>
            <a:r>
              <a:rPr sz="4200" b="1">
                <a:solidFill>
                  <a:srgbClr val="0F2430"/>
                </a:solidFill>
                <a:latin typeface="Segoe UI"/>
              </a:rPr>
              <a:t>12 / 12</a:t>
            </a:r>
          </a:p>
        </p:txBody>
      </p:sp>
      <p:sp>
        <p:nvSpPr>
          <p:cNvPr id="13" name="TextBox 12"/>
          <p:cNvSpPr txBox="1"/>
          <p:nvPr/>
        </p:nvSpPr>
        <p:spPr>
          <a:xfrm>
            <a:off x="6208776" y="2788920"/>
            <a:ext cx="2555748" cy="4572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objectives met</a:t>
            </a:r>
          </a:p>
        </p:txBody>
      </p:sp>
      <p:sp>
        <p:nvSpPr>
          <p:cNvPr id="14" name="Rounded Rectangle 13"/>
          <p:cNvSpPr/>
          <p:nvPr/>
        </p:nvSpPr>
        <p:spPr>
          <a:xfrm>
            <a:off x="8993124" y="1828800"/>
            <a:ext cx="2555748" cy="155448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3124" y="1965960"/>
            <a:ext cx="2555748" cy="777240"/>
          </a:xfrm>
          <a:prstGeom prst="rect">
            <a:avLst/>
          </a:prstGeom>
          <a:noFill/>
        </p:spPr>
        <p:txBody>
          <a:bodyPr wrap="square" lIns="0" rIns="0" tIns="0" bIns="0" anchor="t">
            <a:spAutoFit/>
          </a:bodyPr>
          <a:lstStyle/>
          <a:p>
            <a:pPr algn="ctr">
              <a:lnSpc>
                <a:spcPct val="110000"/>
              </a:lnSpc>
            </a:pPr>
            <a:r>
              <a:rPr sz="4200" b="1">
                <a:solidFill>
                  <a:srgbClr val="0F2430"/>
                </a:solidFill>
                <a:latin typeface="Segoe UI"/>
              </a:rPr>
              <a:t>Live</a:t>
            </a:r>
          </a:p>
        </p:txBody>
      </p:sp>
      <p:sp>
        <p:nvSpPr>
          <p:cNvPr id="16" name="TextBox 15"/>
          <p:cNvSpPr txBox="1"/>
          <p:nvPr/>
        </p:nvSpPr>
        <p:spPr>
          <a:xfrm>
            <a:off x="8993124" y="2788920"/>
            <a:ext cx="2555748" cy="457200"/>
          </a:xfrm>
          <a:prstGeom prst="rect">
            <a:avLst/>
          </a:prstGeom>
          <a:noFill/>
        </p:spPr>
        <p:txBody>
          <a:bodyPr wrap="square" lIns="0" rIns="0" tIns="0" bIns="0" anchor="t">
            <a:spAutoFit/>
          </a:bodyPr>
          <a:lstStyle/>
          <a:p>
            <a:pPr algn="ctr">
              <a:lnSpc>
                <a:spcPct val="110000"/>
              </a:lnSpc>
            </a:pPr>
            <a:r>
              <a:rPr sz="1900" b="0">
                <a:solidFill>
                  <a:srgbClr val="45555D"/>
                </a:solidFill>
                <a:latin typeface="Segoe UI"/>
              </a:rPr>
              <a:t>on Vercel</a:t>
            </a:r>
          </a:p>
        </p:txBody>
      </p:sp>
      <p:sp>
        <p:nvSpPr>
          <p:cNvPr id="17" name="TextBox 16"/>
          <p:cNvSpPr txBox="1"/>
          <p:nvPr/>
        </p:nvSpPr>
        <p:spPr>
          <a:xfrm>
            <a:off x="640080" y="3657600"/>
            <a:ext cx="5271516" cy="457200"/>
          </a:xfrm>
          <a:prstGeom prst="rect">
            <a:avLst/>
          </a:prstGeom>
          <a:noFill/>
        </p:spPr>
        <p:txBody>
          <a:bodyPr wrap="square" lIns="0" rIns="0" tIns="0" bIns="0" anchor="t">
            <a:spAutoFit/>
          </a:bodyPr>
          <a:lstStyle/>
          <a:p>
            <a:pPr algn="l">
              <a:lnSpc>
                <a:spcPct val="110000"/>
              </a:lnSpc>
            </a:pPr>
            <a:r>
              <a:rPr sz="2400" b="1">
                <a:solidFill>
                  <a:srgbClr val="0F2430"/>
                </a:solidFill>
                <a:latin typeface="Segoe UI"/>
              </a:rPr>
              <a:t>Limitations</a:t>
            </a:r>
          </a:p>
        </p:txBody>
      </p:sp>
      <p:sp>
        <p:nvSpPr>
          <p:cNvPr id="18" name="TextBox 17"/>
          <p:cNvSpPr txBox="1"/>
          <p:nvPr/>
        </p:nvSpPr>
        <p:spPr>
          <a:xfrm>
            <a:off x="640080" y="4160520"/>
            <a:ext cx="5271516" cy="1371600"/>
          </a:xfrm>
          <a:prstGeom prst="rect">
            <a:avLst/>
          </a:prstGeom>
          <a:noFill/>
        </p:spPr>
        <p:txBody>
          <a:bodyPr wrap="square" lIns="0" rIns="0" tIns="0" bIns="0" anchor="t">
            <a:spAutoFit/>
          </a:bodyPr>
          <a:lstStyle/>
          <a:p>
            <a:pPr marL="306705" indent="-306705">
              <a:lnSpc>
                <a:spcPct val="105000"/>
              </a:lnSpc>
              <a:spcAft>
                <a:spcPts val="600"/>
              </a:spcAft>
              <a:buClr>
                <a:srgbClr val="F2B138"/>
              </a:buClr>
              <a:buSzPct val="100000"/>
              <a:buFont typeface="Arial"/>
              <a:buChar char="•"/>
            </a:pPr>
            <a:r>
              <a:rPr sz="2100" b="0">
                <a:solidFill>
                  <a:srgbClr val="45555D"/>
                </a:solidFill>
                <a:latin typeface="Segoe UI"/>
              </a:rPr>
              <a:t>Stripe test mode, manual bKash payouts</a:t>
            </a:r>
          </a:p>
          <a:p>
            <a:pPr marL="306705" indent="-306705">
              <a:lnSpc>
                <a:spcPct val="105000"/>
              </a:lnSpc>
              <a:spcAft>
                <a:spcPts val="600"/>
              </a:spcAft>
              <a:buClr>
                <a:srgbClr val="F2B138"/>
              </a:buClr>
              <a:buSzPct val="100000"/>
              <a:buFont typeface="Arial"/>
              <a:buChar char="•"/>
            </a:pPr>
            <a:r>
              <a:rPr sz="2100" b="0">
                <a:solidFill>
                  <a:srgbClr val="45555D"/>
                </a:solidFill>
                <a:latin typeface="Segoe UI"/>
              </a:rPr>
              <a:t>No real customers yet</a:t>
            </a:r>
          </a:p>
        </p:txBody>
      </p:sp>
      <p:sp>
        <p:nvSpPr>
          <p:cNvPr id="19" name="TextBox 18"/>
          <p:cNvSpPr txBox="1"/>
          <p:nvPr/>
        </p:nvSpPr>
        <p:spPr>
          <a:xfrm>
            <a:off x="6277356" y="3657600"/>
            <a:ext cx="5271516" cy="457200"/>
          </a:xfrm>
          <a:prstGeom prst="rect">
            <a:avLst/>
          </a:prstGeom>
          <a:noFill/>
        </p:spPr>
        <p:txBody>
          <a:bodyPr wrap="square" lIns="0" rIns="0" tIns="0" bIns="0" anchor="t">
            <a:spAutoFit/>
          </a:bodyPr>
          <a:lstStyle/>
          <a:p>
            <a:pPr algn="l">
              <a:lnSpc>
                <a:spcPct val="110000"/>
              </a:lnSpc>
            </a:pPr>
            <a:r>
              <a:rPr sz="2400" b="1">
                <a:solidFill>
                  <a:srgbClr val="0F2430"/>
                </a:solidFill>
                <a:latin typeface="Segoe UI"/>
              </a:rPr>
              <a:t>Next</a:t>
            </a:r>
          </a:p>
        </p:txBody>
      </p:sp>
      <p:sp>
        <p:nvSpPr>
          <p:cNvPr id="20" name="TextBox 19"/>
          <p:cNvSpPr txBox="1"/>
          <p:nvPr/>
        </p:nvSpPr>
        <p:spPr>
          <a:xfrm>
            <a:off x="6277356" y="4160520"/>
            <a:ext cx="5271516" cy="1371600"/>
          </a:xfrm>
          <a:prstGeom prst="rect">
            <a:avLst/>
          </a:prstGeom>
          <a:noFill/>
        </p:spPr>
        <p:txBody>
          <a:bodyPr wrap="square" lIns="0" rIns="0" tIns="0" bIns="0" anchor="t">
            <a:spAutoFit/>
          </a:bodyPr>
          <a:lstStyle/>
          <a:p>
            <a:pPr marL="306705" indent="-306705">
              <a:lnSpc>
                <a:spcPct val="105000"/>
              </a:lnSpc>
              <a:spcAft>
                <a:spcPts val="600"/>
              </a:spcAft>
              <a:buClr>
                <a:srgbClr val="F2B138"/>
              </a:buClr>
              <a:buSzPct val="100000"/>
              <a:buFont typeface="Arial"/>
              <a:buChar char="•"/>
            </a:pPr>
            <a:r>
              <a:rPr sz="2100" b="0">
                <a:solidFill>
                  <a:srgbClr val="45555D"/>
                </a:solidFill>
                <a:latin typeface="Segoe UI"/>
              </a:rPr>
              <a:t>Local gateway (SSLCOMMERZ / bKash)</a:t>
            </a:r>
          </a:p>
          <a:p>
            <a:pPr marL="306705" indent="-306705">
              <a:lnSpc>
                <a:spcPct val="105000"/>
              </a:lnSpc>
              <a:spcAft>
                <a:spcPts val="600"/>
              </a:spcAft>
              <a:buClr>
                <a:srgbClr val="F2B138"/>
              </a:buClr>
              <a:buSzPct val="100000"/>
              <a:buFont typeface="Arial"/>
              <a:buChar char="•"/>
            </a:pPr>
            <a:r>
              <a:rPr sz="2100" b="0">
                <a:solidFill>
                  <a:srgbClr val="45555D"/>
                </a:solidFill>
                <a:latin typeface="Segoe UI"/>
              </a:rPr>
              <a:t>Mobile app, full Bangla interface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5"/>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2B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22960" y="731520"/>
            <a:ext cx="2057400" cy="822960"/>
          </a:xfrm>
          <a:prstGeom prst="rect">
            <a:avLst/>
          </a:prstGeom>
        </p:spPr>
      </p:pic>
      <p:sp>
        <p:nvSpPr>
          <p:cNvPr id="4" name="TextBox 3"/>
          <p:cNvSpPr txBox="1"/>
          <p:nvPr/>
        </p:nvSpPr>
        <p:spPr>
          <a:xfrm>
            <a:off x="822960" y="2103120"/>
            <a:ext cx="10515600" cy="1188720"/>
          </a:xfrm>
          <a:prstGeom prst="rect">
            <a:avLst/>
          </a:prstGeom>
          <a:noFill/>
        </p:spPr>
        <p:txBody>
          <a:bodyPr wrap="square" lIns="0" rIns="0" tIns="0" bIns="0" anchor="t">
            <a:spAutoFit/>
          </a:bodyPr>
          <a:lstStyle/>
          <a:p>
            <a:pPr algn="l">
              <a:lnSpc>
                <a:spcPct val="110000"/>
              </a:lnSpc>
            </a:pPr>
            <a:r>
              <a:rPr sz="6600" b="1">
                <a:solidFill>
                  <a:srgbClr val="0F2430"/>
                </a:solidFill>
                <a:latin typeface="Segoe UI"/>
              </a:rPr>
              <a:t>Thank you.</a:t>
            </a:r>
          </a:p>
        </p:txBody>
      </p:sp>
      <p:sp>
        <p:nvSpPr>
          <p:cNvPr id="5" name="TextBox 4"/>
          <p:cNvSpPr txBox="1"/>
          <p:nvPr/>
        </p:nvSpPr>
        <p:spPr>
          <a:xfrm>
            <a:off x="822960" y="3429000"/>
            <a:ext cx="10515600" cy="548640"/>
          </a:xfrm>
          <a:prstGeom prst="rect">
            <a:avLst/>
          </a:prstGeom>
          <a:noFill/>
        </p:spPr>
        <p:txBody>
          <a:bodyPr wrap="square" lIns="0" rIns="0" tIns="0" bIns="0" anchor="t">
            <a:spAutoFit/>
          </a:bodyPr>
          <a:lstStyle/>
          <a:p>
            <a:pPr algn="l">
              <a:lnSpc>
                <a:spcPct val="110000"/>
              </a:lnSpc>
            </a:pPr>
            <a:r>
              <a:rPr sz="3000" b="1">
                <a:solidFill>
                  <a:srgbClr val="1E6F63"/>
                </a:solidFill>
                <a:latin typeface="Segoe UI"/>
              </a:rPr>
              <a:t>Now, the live demo</a:t>
            </a:r>
          </a:p>
        </p:txBody>
      </p:sp>
      <p:sp>
        <p:nvSpPr>
          <p:cNvPr id="6" name="Rounded Rectangle 5"/>
          <p:cNvSpPr/>
          <p:nvPr/>
        </p:nvSpPr>
        <p:spPr>
          <a:xfrm>
            <a:off x="822960" y="4343400"/>
            <a:ext cx="6949440" cy="868680"/>
          </a:xfrm>
          <a:prstGeom prst="roundRect">
            <a:avLst>
              <a:gd name="adj" fmla="val 6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4343400"/>
            <a:ext cx="6400800" cy="868680"/>
          </a:xfrm>
          <a:prstGeom prst="rect">
            <a:avLst/>
          </a:prstGeom>
          <a:noFill/>
        </p:spPr>
        <p:txBody>
          <a:bodyPr wrap="square" lIns="0" rIns="0" tIns="0" bIns="0" anchor="ctr">
            <a:spAutoFit/>
          </a:bodyPr>
          <a:lstStyle/>
          <a:p>
            <a:pPr algn="l">
              <a:lnSpc>
                <a:spcPct val="110000"/>
              </a:lnSpc>
            </a:pPr>
            <a:r>
              <a:rPr sz="2400" b="1">
                <a:solidFill>
                  <a:srgbClr val="F2B138"/>
                </a:solidFill>
                <a:latin typeface="Segoe UI"/>
              </a:rPr>
              <a:t>Live  </a:t>
            </a:r>
            <a:r>
              <a:rPr sz="2400" b="0">
                <a:solidFill>
                  <a:srgbClr val="FFFFFF"/>
                </a:solidFill>
                <a:latin typeface="Segoe UI"/>
              </a:rPr>
              <a:t>sarabo-client-six.vercel.app</a:t>
            </a:r>
          </a:p>
        </p:txBody>
      </p:sp>
      <p:sp>
        <p:nvSpPr>
          <p:cNvPr id="8" name="Rounded Rectangle 7"/>
          <p:cNvSpPr/>
          <p:nvPr/>
        </p:nvSpPr>
        <p:spPr>
          <a:xfrm>
            <a:off x="8625535" y="4709160"/>
            <a:ext cx="2834640" cy="1463040"/>
          </a:xfrm>
          <a:prstGeom prst="roundRect">
            <a:avLst>
              <a:gd name="adj" fmla="val 6000"/>
            </a:avLst>
          </a:prstGeom>
          <a:solidFill>
            <a:srgbClr val="FFFFFF"/>
          </a:solidFill>
          <a:ln w="15875">
            <a:solidFill>
              <a:srgbClr val="C9CF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etrologo.png"/>
          <p:cNvPicPr>
            <a:picLocks noChangeAspect="1"/>
          </p:cNvPicPr>
          <p:nvPr/>
        </p:nvPicPr>
        <p:blipFill>
          <a:blip r:embed="rId3"/>
          <a:stretch>
            <a:fillRect/>
          </a:stretch>
        </p:blipFill>
        <p:spPr>
          <a:xfrm>
            <a:off x="8762695" y="4800600"/>
            <a:ext cx="2560320" cy="1266092"/>
          </a:xfrm>
          <a:prstGeom prst="rect">
            <a:avLst/>
          </a:prstGeom>
        </p:spPr>
      </p:pic>
      <p:sp>
        <p:nvSpPr>
          <p:cNvPr id="10" name="TextBox 9"/>
          <p:cNvSpPr txBox="1"/>
          <p:nvPr/>
        </p:nvSpPr>
        <p:spPr>
          <a:xfrm>
            <a:off x="10634472" y="6446520"/>
            <a:ext cx="914400" cy="274320"/>
          </a:xfrm>
          <a:prstGeom prst="rect">
            <a:avLst/>
          </a:prstGeom>
          <a:noFill/>
        </p:spPr>
        <p:txBody>
          <a:bodyPr wrap="square" lIns="0" rIns="0" tIns="0" bIns="0" anchor="t">
            <a:spAutoFit/>
          </a:bodyPr>
          <a:lstStyle/>
          <a:p>
            <a:pPr algn="r">
              <a:lnSpc>
                <a:spcPct val="110000"/>
              </a:lnSpc>
            </a:pPr>
            <a:r>
              <a:rPr sz="1200" b="0">
                <a:solidFill>
                  <a:srgbClr val="45555D"/>
                </a:solidFill>
                <a:latin typeface="Segoe UI"/>
              </a:rPr>
              <a:t>11/11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