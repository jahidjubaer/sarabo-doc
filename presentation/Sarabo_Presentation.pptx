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a:t>
            </a:r>
          </a:p>
          <a:p>
            <a:r>
              <a:t>Assalamu alaikum. I am Jahid Hasan, ID 222-115-116. My final year project, supervised by Shrabanti Chowdhury, is Sarabo, an electronics repair service management platform. In the next five minutes I will show the problem, how Sarabo solves it, how it is built, and how I verified it. Then I will give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a:t>
            </a:r>
          </a:p>
          <a:p>
            <a:r>
              <a:t>Today, getting a phone or AC repaired is a leap of faith. The customer hands over the device without knowing the price, cannot see where it is, and has no record if something goes wrong. Technicians find work only by word of mouth and write quotes on paper. And whoever runs the service cannot see which jobs are stuck or how much demand is lost.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[0:50-1:20]</a:t>
            </a:r>
          </a:p>
          <a:p>
            <a:r>
              <a:t>Sarabo turns this into one tracked, priced workflow. Customers request a repair, compare offers and pay online. Technicians get matching jobs near them and a wallet. Admins see everything that needs attention. It covers 45 repair services across 8 device types, priced in taka, and it is deployed and live.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[1:20-2:05]</a:t>
            </a:r>
          </a:p>
          <a:p>
            <a:r>
              <a:t>Here is the journey. One: the customer describes the problem, even in Banglish, adds photos and picks a pickup slot. Two: approved technicians in that region who have the right skill send offers. Three: the customer chooses one and pays a small inspection fee, which books the technician. Four: the technician inspects and sends an itemised quote. Five: the customer approves and pays only the rest, because the fee already counts. Six: after hand-over, the technician's 90 percent becomes withdrawable. The fee rules are fair: refunded if the technician doesn't come or the customer cancels in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[2:05-2:30]</a:t>
            </a:r>
          </a:p>
          <a:p>
            <a:r>
              <a:t>Two things make it a marketplace. The open jobs board shows a safe summary of every waiting repair; matching technicians are notified and send offers, and if the customer rejects an offer the job is reposted. And anyone with the tracking code can follow the repair on the service spine: Request, Inspect, Approve, Repaired, without seeing any personal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[2:30-3:05]</a:t>
            </a:r>
          </a:p>
          <a:p>
            <a:r>
              <a:t>I used Google Gemini in four places: a request helper that understands Bangla and Banglish and even a photo; an offer-note writer and price guide for technicians; a support chat; and a summary for admin reports. The rule is: AI suggests, people decide. It never sets a price, its answers are checked against live data, any number in a summary must exist in the real figures, no personal data is sent, and usage is capped.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[3:05-3:30]</a:t>
            </a:r>
          </a:p>
          <a:p>
            <a:r>
              <a:t>Technically, it is a React single-page app talking to an Express API on Vercel, with MongoDB Atlas as the database. Around it: Firebase for sign-in, Stripe for payments and refunds, Supabase for private photos, Gemini for AI, Gmail for email, and a daily scheduled job. About 263 commits and 75 thousand lines across the two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[3:30-4:05]</a:t>
            </a:r>
          </a:p>
          <a:p>
            <a:r>
              <a:t>Because this handles money, correctness was my main focus. The server checks the role and the current state for every action. Booking, payment, settlement and refunds are database transactions, so nothing half-happens. The Stripe webhook is verified and processed exactly once, refunds can't be issued twice, and the wallet balance is calculated, never stored, so it can't drift. I tested races directly, like two admins assigning at the same moment.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[4:05-4:40]</a:t>
            </a:r>
          </a:p>
          <a:p>
            <a:r>
              <a:t>Results: on 11 October I re-ran everything on an isolated database. All 2,595 server checks and all 58 browser tests pass, lint and build pass, and the system is deployed. All eleven objectives were met. Limitations: Stripe is in test mode because it isn't available in Bangladesh, payouts are manual, and it hasn't had real users yet. Next steps are a local gateway like SSLCOMMERZ or bKash, a mobile app, SMS, and a full Bangla interface.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[4:40-5:00]</a:t>
            </a:r>
          </a:p>
          <a:p>
            <a:r>
              <a:t>Sarabo shows that a repair service can be modelled as a controlled, trustworthy workflow, with AI used safely to help people. Thank you. I will now show it live, from a customer's request all the way to the technician's payout.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430"/>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on-ink.png"/>
          <p:cNvPicPr>
            <a:picLocks noChangeAspect="1"/>
          </p:cNvPicPr>
          <p:nvPr/>
        </p:nvPicPr>
        <p:blipFill>
          <a:blip r:embed="rId2"/>
          <a:stretch>
            <a:fillRect/>
          </a:stretch>
        </p:blipFill>
        <p:spPr>
          <a:xfrm>
            <a:off x="822960" y="731520"/>
            <a:ext cx="2057400" cy="822960"/>
          </a:xfrm>
          <a:prstGeom prst="rect">
            <a:avLst/>
          </a:prstGeom>
        </p:spPr>
      </p:pic>
      <p:sp>
        <p:nvSpPr>
          <p:cNvPr id="4" name="TextBox 3"/>
          <p:cNvSpPr txBox="1"/>
          <p:nvPr/>
        </p:nvSpPr>
        <p:spPr>
          <a:xfrm>
            <a:off x="822960" y="2011680"/>
            <a:ext cx="10058400" cy="1280160"/>
          </a:xfrm>
          <a:prstGeom prst="rect">
            <a:avLst/>
          </a:prstGeom>
          <a:noFill/>
        </p:spPr>
        <p:txBody>
          <a:bodyPr wrap="square" lIns="0" rIns="0" tIns="0" bIns="0" anchor="t">
            <a:spAutoFit/>
          </a:bodyPr>
          <a:lstStyle/>
          <a:p>
            <a:pPr algn="l">
              <a:lnSpc>
                <a:spcPct val="110000"/>
              </a:lnSpc>
            </a:pPr>
            <a:r>
              <a:rPr sz="4600" b="1">
                <a:solidFill>
                  <a:srgbClr val="FFFFFF"/>
                </a:solidFill>
                <a:latin typeface="Segoe UI"/>
              </a:rPr>
              <a:t>Repair your device with confidence.</a:t>
            </a:r>
          </a:p>
        </p:txBody>
      </p:sp>
      <p:sp>
        <p:nvSpPr>
          <p:cNvPr id="5" name="TextBox 4"/>
          <p:cNvSpPr txBox="1"/>
          <p:nvPr/>
        </p:nvSpPr>
        <p:spPr>
          <a:xfrm>
            <a:off x="822960" y="2971800"/>
            <a:ext cx="9601200" cy="914400"/>
          </a:xfrm>
          <a:prstGeom prst="rect">
            <a:avLst/>
          </a:prstGeom>
          <a:noFill/>
        </p:spPr>
        <p:txBody>
          <a:bodyPr wrap="square" lIns="0" rIns="0" tIns="0" bIns="0" anchor="t">
            <a:spAutoFit/>
          </a:bodyPr>
          <a:lstStyle/>
          <a:p>
            <a:pPr algn="l">
              <a:lnSpc>
                <a:spcPct val="110000"/>
              </a:lnSpc>
            </a:pPr>
            <a:r>
              <a:rPr sz="2400" b="0">
                <a:solidFill>
                  <a:srgbClr val="F2B138"/>
                </a:solidFill>
                <a:latin typeface="Segoe UI"/>
              </a:rPr>
              <a:t>Sarabo: An Electronics Repair Service Management Platform</a:t>
            </a:r>
          </a:p>
        </p:txBody>
      </p:sp>
      <p:sp>
        <p:nvSpPr>
          <p:cNvPr id="6" name="TextBox 5"/>
          <p:cNvSpPr txBox="1"/>
          <p:nvPr/>
        </p:nvSpPr>
        <p:spPr>
          <a:xfrm>
            <a:off x="822960" y="4206240"/>
            <a:ext cx="6400800" cy="1463040"/>
          </a:xfrm>
          <a:prstGeom prst="rect">
            <a:avLst/>
          </a:prstGeom>
          <a:noFill/>
        </p:spPr>
        <p:txBody>
          <a:bodyPr wrap="square" lIns="0" rIns="0" tIns="0" bIns="0" anchor="t">
            <a:spAutoFit/>
          </a:bodyPr>
          <a:lstStyle/>
          <a:p>
            <a:pPr algn="l">
              <a:lnSpc>
                <a:spcPct val="125000"/>
              </a:lnSpc>
            </a:pPr>
            <a:r>
              <a:rPr sz="2000" b="1">
                <a:solidFill>
                  <a:srgbClr val="FFFFFF"/>
                </a:solidFill>
                <a:latin typeface="Segoe UI"/>
              </a:rPr>
              <a:t>Jahid Hasan</a:t>
            </a:r>
          </a:p>
          <a:p>
            <a:pPr algn="l">
              <a:lnSpc>
                <a:spcPct val="125000"/>
              </a:lnSpc>
            </a:pPr>
            <a:r>
              <a:rPr sz="1600" b="0">
                <a:solidFill>
                  <a:srgbClr val="C9D4D8"/>
                </a:solidFill>
                <a:latin typeface="Segoe UI"/>
              </a:rPr>
              <a:t>ID 222-115-116  ·  Batch 57 (C)</a:t>
            </a:r>
          </a:p>
          <a:p>
            <a:pPr algn="l">
              <a:lnSpc>
                <a:spcPct val="125000"/>
              </a:lnSpc>
            </a:pPr>
            <a:r>
              <a:rPr sz="1600" b="0">
                <a:solidFill>
                  <a:srgbClr val="C9D4D8"/>
                </a:solidFill>
                <a:latin typeface="Segoe UI"/>
              </a:rPr>
              <a:t>Supervisor: Shrabanti Chowdhury, Senior Lecturer</a:t>
            </a:r>
          </a:p>
          <a:p>
            <a:pPr algn="l">
              <a:lnSpc>
                <a:spcPct val="125000"/>
              </a:lnSpc>
            </a:pPr>
            <a:r>
              <a:rPr sz="1600" b="0">
                <a:solidFill>
                  <a:srgbClr val="C9D4D8"/>
                </a:solidFill>
                <a:latin typeface="Segoe UI"/>
              </a:rPr>
              <a:t>Department of CSE, Metropolitan University, Sylhet</a:t>
            </a:r>
          </a:p>
        </p:txBody>
      </p:sp>
      <p:sp>
        <p:nvSpPr>
          <p:cNvPr id="7" name="Rounded Rectangle 6"/>
          <p:cNvSpPr/>
          <p:nvPr/>
        </p:nvSpPr>
        <p:spPr>
          <a:xfrm>
            <a:off x="8625535" y="4983481"/>
            <a:ext cx="2834640" cy="14630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trologo.png"/>
          <p:cNvPicPr>
            <a:picLocks noChangeAspect="1"/>
          </p:cNvPicPr>
          <p:nvPr/>
        </p:nvPicPr>
        <p:blipFill>
          <a:blip r:embed="rId3"/>
          <a:stretch>
            <a:fillRect/>
          </a:stretch>
        </p:blipFill>
        <p:spPr>
          <a:xfrm>
            <a:off x="8762695" y="5074920"/>
            <a:ext cx="2560320" cy="126609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731520" y="502920"/>
            <a:ext cx="7315200" cy="320040"/>
          </a:xfrm>
          <a:prstGeom prst="rect">
            <a:avLst/>
          </a:prstGeom>
          <a:noFill/>
        </p:spPr>
        <p:txBody>
          <a:bodyPr wrap="square" lIns="0" rIns="0" tIns="0" bIns="0" anchor="t">
            <a:spAutoFit/>
          </a:bodyPr>
          <a:lstStyle/>
          <a:p>
            <a:pPr algn="l">
              <a:lnSpc>
                <a:spcPct val="110000"/>
              </a:lnSpc>
            </a:pPr>
            <a:r>
              <a:rPr sz="1300" b="1">
                <a:solidFill>
                  <a:srgbClr val="1E6F63"/>
                </a:solidFill>
                <a:latin typeface="Segoe UI"/>
              </a:rPr>
              <a:t>THE PROBLEM</a:t>
            </a:r>
          </a:p>
        </p:txBody>
      </p:sp>
      <p:sp>
        <p:nvSpPr>
          <p:cNvPr id="3" name="TextBox 2"/>
          <p:cNvSpPr txBox="1"/>
          <p:nvPr/>
        </p:nvSpPr>
        <p:spPr>
          <a:xfrm>
            <a:off x="731520" y="822960"/>
            <a:ext cx="10698480" cy="822960"/>
          </a:xfrm>
          <a:prstGeom prst="rect">
            <a:avLst/>
          </a:prstGeom>
          <a:noFill/>
        </p:spPr>
        <p:txBody>
          <a:bodyPr wrap="square" lIns="0" rIns="0" tIns="0" bIns="0" anchor="t">
            <a:spAutoFit/>
          </a:bodyPr>
          <a:lstStyle/>
          <a:p>
            <a:pPr algn="l">
              <a:lnSpc>
                <a:spcPct val="110000"/>
              </a:lnSpc>
            </a:pPr>
            <a:r>
              <a:rPr sz="3400" b="1">
                <a:solidFill>
                  <a:srgbClr val="0F2430"/>
                </a:solidFill>
                <a:latin typeface="Segoe UI"/>
              </a:rPr>
              <a:t>Getting a device repaired is a leap of faith</a:t>
            </a:r>
          </a:p>
        </p:txBody>
      </p:sp>
      <p:sp>
        <p:nvSpPr>
          <p:cNvPr id="4" name="Rounded Rectangle 3"/>
          <p:cNvSpPr/>
          <p:nvPr/>
        </p:nvSpPr>
        <p:spPr>
          <a:xfrm>
            <a:off x="731520" y="2011680"/>
            <a:ext cx="3383280" cy="356616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2011680"/>
            <a:ext cx="3383280" cy="109728"/>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377440"/>
            <a:ext cx="2834640" cy="457200"/>
          </a:xfrm>
          <a:prstGeom prst="rect">
            <a:avLst/>
          </a:prstGeom>
          <a:noFill/>
        </p:spPr>
        <p:txBody>
          <a:bodyPr wrap="square" lIns="0" rIns="0" tIns="0" bIns="0" anchor="t">
            <a:spAutoFit/>
          </a:bodyPr>
          <a:lstStyle/>
          <a:p>
            <a:pPr algn="l">
              <a:lnSpc>
                <a:spcPct val="110000"/>
              </a:lnSpc>
            </a:pPr>
            <a:r>
              <a:rPr sz="2200" b="1">
                <a:solidFill>
                  <a:srgbClr val="0F2430"/>
                </a:solidFill>
                <a:latin typeface="Segoe UI"/>
              </a:rPr>
              <a:t>Customers</a:t>
            </a:r>
          </a:p>
        </p:txBody>
      </p:sp>
      <p:sp>
        <p:nvSpPr>
          <p:cNvPr id="7" name="TextBox 6"/>
          <p:cNvSpPr txBox="1"/>
          <p:nvPr/>
        </p:nvSpPr>
        <p:spPr>
          <a:xfrm>
            <a:off x="1051560" y="3063240"/>
            <a:ext cx="2834640" cy="2377440"/>
          </a:xfrm>
          <a:prstGeom prst="rect">
            <a:avLst/>
          </a:prstGeom>
          <a:noFill/>
        </p:spPr>
        <p:txBody>
          <a:bodyPr wrap="square" lIns="0" rIns="0" tIns="0" bIns="0" anchor="t">
            <a:spAutoFit/>
          </a:bodyPr>
          <a:lstStyle/>
          <a:p>
            <a:pPr algn="l">
              <a:lnSpc>
                <a:spcPct val="130000"/>
              </a:lnSpc>
            </a:pPr>
            <a:r>
              <a:rPr sz="1600" b="0">
                <a:solidFill>
                  <a:srgbClr val="5B6B73"/>
                </a:solidFill>
                <a:latin typeface="Segoe UI"/>
              </a:rPr>
              <a:t>—  No price before hand-over</a:t>
            </a:r>
          </a:p>
          <a:p>
            <a:pPr algn="l">
              <a:lnSpc>
                <a:spcPct val="130000"/>
              </a:lnSpc>
            </a:pPr>
            <a:r>
              <a:rPr sz="1600" b="0">
                <a:solidFill>
                  <a:srgbClr val="5B6B73"/>
                </a:solidFill>
                <a:latin typeface="Segoe UI"/>
              </a:rPr>
              <a:t>—  No idea where the device is</a:t>
            </a:r>
          </a:p>
          <a:p>
            <a:pPr algn="l">
              <a:lnSpc>
                <a:spcPct val="130000"/>
              </a:lnSpc>
            </a:pPr>
            <a:r>
              <a:rPr sz="1600" b="0">
                <a:solidFill>
                  <a:srgbClr val="5B6B73"/>
                </a:solidFill>
                <a:latin typeface="Segoe UI"/>
              </a:rPr>
              <a:t>—  No record if something goes wrong</a:t>
            </a:r>
          </a:p>
        </p:txBody>
      </p:sp>
      <p:sp>
        <p:nvSpPr>
          <p:cNvPr id="8" name="Rounded Rectangle 7"/>
          <p:cNvSpPr/>
          <p:nvPr/>
        </p:nvSpPr>
        <p:spPr>
          <a:xfrm>
            <a:off x="4389120" y="2011680"/>
            <a:ext cx="3383280" cy="356616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9120" y="2011680"/>
            <a:ext cx="3383280" cy="109728"/>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377440"/>
            <a:ext cx="2834640" cy="457200"/>
          </a:xfrm>
          <a:prstGeom prst="rect">
            <a:avLst/>
          </a:prstGeom>
          <a:noFill/>
        </p:spPr>
        <p:txBody>
          <a:bodyPr wrap="square" lIns="0" rIns="0" tIns="0" bIns="0" anchor="t">
            <a:spAutoFit/>
          </a:bodyPr>
          <a:lstStyle/>
          <a:p>
            <a:pPr algn="l">
              <a:lnSpc>
                <a:spcPct val="110000"/>
              </a:lnSpc>
            </a:pPr>
            <a:r>
              <a:rPr sz="2200" b="1">
                <a:solidFill>
                  <a:srgbClr val="0F2430"/>
                </a:solidFill>
                <a:latin typeface="Segoe UI"/>
              </a:rPr>
              <a:t>Technicians</a:t>
            </a:r>
          </a:p>
        </p:txBody>
      </p:sp>
      <p:sp>
        <p:nvSpPr>
          <p:cNvPr id="11" name="TextBox 10"/>
          <p:cNvSpPr txBox="1"/>
          <p:nvPr/>
        </p:nvSpPr>
        <p:spPr>
          <a:xfrm>
            <a:off x="4709160" y="3063240"/>
            <a:ext cx="2834640" cy="2377440"/>
          </a:xfrm>
          <a:prstGeom prst="rect">
            <a:avLst/>
          </a:prstGeom>
          <a:noFill/>
        </p:spPr>
        <p:txBody>
          <a:bodyPr wrap="square" lIns="0" rIns="0" tIns="0" bIns="0" anchor="t">
            <a:spAutoFit/>
          </a:bodyPr>
          <a:lstStyle/>
          <a:p>
            <a:pPr algn="l">
              <a:lnSpc>
                <a:spcPct val="130000"/>
              </a:lnSpc>
            </a:pPr>
            <a:r>
              <a:rPr sz="1600" b="0">
                <a:solidFill>
                  <a:srgbClr val="5B6B73"/>
                </a:solidFill>
                <a:latin typeface="Segoe UI"/>
              </a:rPr>
              <a:t>—  Work comes by word of mouth</a:t>
            </a:r>
          </a:p>
          <a:p>
            <a:pPr algn="l">
              <a:lnSpc>
                <a:spcPct val="130000"/>
              </a:lnSpc>
            </a:pPr>
            <a:r>
              <a:rPr sz="1600" b="0">
                <a:solidFill>
                  <a:srgbClr val="5B6B73"/>
                </a:solidFill>
                <a:latin typeface="Segoe UI"/>
              </a:rPr>
              <a:t>—  Inspection and quote on paper</a:t>
            </a:r>
          </a:p>
          <a:p>
            <a:pPr algn="l">
              <a:lnSpc>
                <a:spcPct val="130000"/>
              </a:lnSpc>
            </a:pPr>
            <a:r>
              <a:rPr sz="1600" b="0">
                <a:solidFill>
                  <a:srgbClr val="5B6B73"/>
                </a:solidFill>
                <a:latin typeface="Segoe UI"/>
              </a:rPr>
              <a:t>—  Payment is uncertain</a:t>
            </a:r>
          </a:p>
        </p:txBody>
      </p:sp>
      <p:sp>
        <p:nvSpPr>
          <p:cNvPr id="12" name="Rounded Rectangle 11"/>
          <p:cNvSpPr/>
          <p:nvPr/>
        </p:nvSpPr>
        <p:spPr>
          <a:xfrm>
            <a:off x="8046720" y="2011680"/>
            <a:ext cx="3383280" cy="356616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2011680"/>
            <a:ext cx="3383280" cy="109728"/>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2377440"/>
            <a:ext cx="2834640" cy="457200"/>
          </a:xfrm>
          <a:prstGeom prst="rect">
            <a:avLst/>
          </a:prstGeom>
          <a:noFill/>
        </p:spPr>
        <p:txBody>
          <a:bodyPr wrap="square" lIns="0" rIns="0" tIns="0" bIns="0" anchor="t">
            <a:spAutoFit/>
          </a:bodyPr>
          <a:lstStyle/>
          <a:p>
            <a:pPr algn="l">
              <a:lnSpc>
                <a:spcPct val="110000"/>
              </a:lnSpc>
            </a:pPr>
            <a:r>
              <a:rPr sz="2200" b="1">
                <a:solidFill>
                  <a:srgbClr val="0F2430"/>
                </a:solidFill>
                <a:latin typeface="Segoe UI"/>
              </a:rPr>
              <a:t>The business</a:t>
            </a:r>
          </a:p>
        </p:txBody>
      </p:sp>
      <p:sp>
        <p:nvSpPr>
          <p:cNvPr id="15" name="TextBox 14"/>
          <p:cNvSpPr txBox="1"/>
          <p:nvPr/>
        </p:nvSpPr>
        <p:spPr>
          <a:xfrm>
            <a:off x="8366760" y="3063240"/>
            <a:ext cx="2834640" cy="2377440"/>
          </a:xfrm>
          <a:prstGeom prst="rect">
            <a:avLst/>
          </a:prstGeom>
          <a:noFill/>
        </p:spPr>
        <p:txBody>
          <a:bodyPr wrap="square" lIns="0" rIns="0" tIns="0" bIns="0" anchor="t">
            <a:spAutoFit/>
          </a:bodyPr>
          <a:lstStyle/>
          <a:p>
            <a:pPr algn="l">
              <a:lnSpc>
                <a:spcPct val="130000"/>
              </a:lnSpc>
            </a:pPr>
            <a:r>
              <a:rPr sz="1600" b="0">
                <a:solidFill>
                  <a:srgbClr val="5B6B73"/>
                </a:solidFill>
                <a:latin typeface="Segoe UI"/>
              </a:rPr>
              <a:t>—  No view of stuck or late jobs</a:t>
            </a:r>
          </a:p>
          <a:p>
            <a:pPr algn="l">
              <a:lnSpc>
                <a:spcPct val="130000"/>
              </a:lnSpc>
            </a:pPr>
            <a:r>
              <a:rPr sz="1600" b="0">
                <a:solidFill>
                  <a:srgbClr val="5B6B73"/>
                </a:solidFill>
                <a:latin typeface="Segoe UI"/>
              </a:rPr>
              <a:t>—  Refunds handled by hand</a:t>
            </a:r>
          </a:p>
          <a:p>
            <a:pPr algn="l">
              <a:lnSpc>
                <a:spcPct val="130000"/>
              </a:lnSpc>
            </a:pPr>
            <a:r>
              <a:rPr sz="1600" b="0">
                <a:solidFill>
                  <a:srgbClr val="5B6B73"/>
                </a:solidFill>
                <a:latin typeface="Segoe UI"/>
              </a:rPr>
              <a:t>—  Demand turned away is invisible</a:t>
            </a:r>
          </a:p>
        </p:txBody>
      </p:sp>
      <p:sp>
        <p:nvSpPr>
          <p:cNvPr id="16" name="TextBox 15"/>
          <p:cNvSpPr txBox="1"/>
          <p:nvPr/>
        </p:nvSpPr>
        <p:spPr>
          <a:xfrm>
            <a:off x="731520" y="5806440"/>
            <a:ext cx="10698480" cy="457200"/>
          </a:xfrm>
          <a:prstGeom prst="rect">
            <a:avLst/>
          </a:prstGeom>
          <a:noFill/>
        </p:spPr>
        <p:txBody>
          <a:bodyPr wrap="square" lIns="0" rIns="0" tIns="0" bIns="0" anchor="t">
            <a:spAutoFit/>
          </a:bodyPr>
          <a:lstStyle/>
          <a:p>
            <a:pPr algn="l">
              <a:lnSpc>
                <a:spcPct val="110000"/>
              </a:lnSpc>
            </a:pPr>
            <a:r>
              <a:rPr sz="1700" b="1">
                <a:solidFill>
                  <a:srgbClr val="1E6F63"/>
                </a:solidFill>
                <a:latin typeface="Segoe UI"/>
              </a:rPr>
              <a:t>Result: low trust on both sides, and many repairs never happen.</a:t>
            </a:r>
          </a:p>
        </p:txBody>
      </p:sp>
      <p:sp>
        <p:nvSpPr>
          <p:cNvPr id="17" name="TextBox 16"/>
          <p:cNvSpPr txBox="1"/>
          <p:nvPr/>
        </p:nvSpPr>
        <p:spPr>
          <a:xfrm>
            <a:off x="731520" y="6400800"/>
            <a:ext cx="5486400" cy="274320"/>
          </a:xfrm>
          <a:prstGeom prst="rect">
            <a:avLst/>
          </a:prstGeom>
          <a:noFill/>
        </p:spPr>
        <p:txBody>
          <a:bodyPr wrap="square" lIns="0" rIns="0" tIns="0" bIns="0" anchor="t">
            <a:spAutoFit/>
          </a:bodyPr>
          <a:lstStyle/>
          <a:p>
            <a:pPr algn="l">
              <a:lnSpc>
                <a:spcPct val="110000"/>
              </a:lnSpc>
            </a:pPr>
            <a:r>
              <a:rPr sz="1000" b="0">
                <a:solidFill>
                  <a:srgbClr val="5B6B73"/>
                </a:solidFill>
                <a:latin typeface="Segoe UI"/>
              </a:rPr>
              <a:t>Sarabo  ·  Jahid Hasan  ·  Metropolitan University</a:t>
            </a:r>
          </a:p>
        </p:txBody>
      </p:sp>
      <p:sp>
        <p:nvSpPr>
          <p:cNvPr id="18" name="TextBox 17"/>
          <p:cNvSpPr txBox="1"/>
          <p:nvPr/>
        </p:nvSpPr>
        <p:spPr>
          <a:xfrm>
            <a:off x="10728655" y="6400800"/>
            <a:ext cx="731520" cy="274320"/>
          </a:xfrm>
          <a:prstGeom prst="rect">
            <a:avLst/>
          </a:prstGeom>
          <a:noFill/>
        </p:spPr>
        <p:txBody>
          <a:bodyPr wrap="square" lIns="0" rIns="0" tIns="0" bIns="0" anchor="t">
            <a:spAutoFit/>
          </a:bodyPr>
          <a:lstStyle/>
          <a:p>
            <a:pPr algn="r">
              <a:lnSpc>
                <a:spcPct val="110000"/>
              </a:lnSpc>
            </a:pPr>
            <a:r>
              <a:rPr sz="1000" b="0">
                <a:solidFill>
                  <a:srgbClr val="5B6B73"/>
                </a:solidFill>
                <a:latin typeface="Segoe UI"/>
              </a:rPr>
              <a:t>2/10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731520" y="502920"/>
            <a:ext cx="7315200" cy="320040"/>
          </a:xfrm>
          <a:prstGeom prst="rect">
            <a:avLst/>
          </a:prstGeom>
          <a:noFill/>
        </p:spPr>
        <p:txBody>
          <a:bodyPr wrap="square" lIns="0" rIns="0" tIns="0" bIns="0" anchor="t">
            <a:spAutoFit/>
          </a:bodyPr>
          <a:lstStyle/>
          <a:p>
            <a:pPr algn="l">
              <a:lnSpc>
                <a:spcPct val="110000"/>
              </a:lnSpc>
            </a:pPr>
            <a:r>
              <a:rPr sz="1300" b="1">
                <a:solidFill>
                  <a:srgbClr val="1E6F63"/>
                </a:solidFill>
                <a:latin typeface="Segoe UI"/>
              </a:rPr>
              <a:t>THE SOLUTION</a:t>
            </a:r>
          </a:p>
        </p:txBody>
      </p:sp>
      <p:sp>
        <p:nvSpPr>
          <p:cNvPr id="3" name="TextBox 2"/>
          <p:cNvSpPr txBox="1"/>
          <p:nvPr/>
        </p:nvSpPr>
        <p:spPr>
          <a:xfrm>
            <a:off x="731520" y="822960"/>
            <a:ext cx="5669280" cy="822960"/>
          </a:xfrm>
          <a:prstGeom prst="rect">
            <a:avLst/>
          </a:prstGeom>
          <a:noFill/>
        </p:spPr>
        <p:txBody>
          <a:bodyPr wrap="square" lIns="0" rIns="0" tIns="0" bIns="0" anchor="t">
            <a:spAutoFit/>
          </a:bodyPr>
          <a:lstStyle/>
          <a:p>
            <a:pPr algn="l">
              <a:lnSpc>
                <a:spcPct val="110000"/>
              </a:lnSpc>
            </a:pPr>
            <a:r>
              <a:rPr sz="3000" b="1">
                <a:solidFill>
                  <a:srgbClr val="0F2430"/>
                </a:solidFill>
                <a:latin typeface="Segoe UI"/>
              </a:rPr>
              <a:t>One tracked, priced workflow for three roles</a:t>
            </a:r>
          </a:p>
        </p:txBody>
      </p:sp>
      <p:sp>
        <p:nvSpPr>
          <p:cNvPr id="4" name="Rounded Rectangle 3"/>
          <p:cNvSpPr/>
          <p:nvPr/>
        </p:nvSpPr>
        <p:spPr>
          <a:xfrm>
            <a:off x="731520" y="2148840"/>
            <a:ext cx="5212080" cy="105156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2148840"/>
            <a:ext cx="109728" cy="1051560"/>
          </a:xfrm>
          <a:prstGeom prst="rect">
            <a:avLst/>
          </a:prstGeom>
          <a:solidFill>
            <a:srgbClr val="1E6F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286000"/>
            <a:ext cx="4754880" cy="365760"/>
          </a:xfrm>
          <a:prstGeom prst="rect">
            <a:avLst/>
          </a:prstGeom>
          <a:noFill/>
        </p:spPr>
        <p:txBody>
          <a:bodyPr wrap="square" lIns="0" rIns="0" tIns="0" bIns="0" anchor="t">
            <a:spAutoFit/>
          </a:bodyPr>
          <a:lstStyle/>
          <a:p>
            <a:pPr algn="l">
              <a:lnSpc>
                <a:spcPct val="110000"/>
              </a:lnSpc>
            </a:pPr>
            <a:r>
              <a:rPr sz="1900" b="1">
                <a:solidFill>
                  <a:srgbClr val="0F2430"/>
                </a:solidFill>
                <a:latin typeface="Segoe UI"/>
              </a:rPr>
              <a:t>Customer</a:t>
            </a:r>
          </a:p>
        </p:txBody>
      </p:sp>
      <p:sp>
        <p:nvSpPr>
          <p:cNvPr id="7" name="TextBox 6"/>
          <p:cNvSpPr txBox="1"/>
          <p:nvPr/>
        </p:nvSpPr>
        <p:spPr>
          <a:xfrm>
            <a:off x="1051560" y="2624328"/>
            <a:ext cx="4754880" cy="548640"/>
          </a:xfrm>
          <a:prstGeom prst="rect">
            <a:avLst/>
          </a:prstGeom>
          <a:noFill/>
        </p:spPr>
        <p:txBody>
          <a:bodyPr wrap="square" lIns="0" rIns="0" tIns="0" bIns="0" anchor="t">
            <a:spAutoFit/>
          </a:bodyPr>
          <a:lstStyle/>
          <a:p>
            <a:pPr algn="l">
              <a:lnSpc>
                <a:spcPct val="110000"/>
              </a:lnSpc>
            </a:pPr>
            <a:r>
              <a:rPr sz="1350" b="0">
                <a:solidFill>
                  <a:srgbClr val="5B6B73"/>
                </a:solidFill>
                <a:latin typeface="Segoe UI"/>
              </a:rPr>
              <a:t>Requests a repair, compares offers, approves the price, pays and tracks every step</a:t>
            </a:r>
          </a:p>
        </p:txBody>
      </p:sp>
      <p:sp>
        <p:nvSpPr>
          <p:cNvPr id="8" name="Rounded Rectangle 7"/>
          <p:cNvSpPr/>
          <p:nvPr/>
        </p:nvSpPr>
        <p:spPr>
          <a:xfrm>
            <a:off x="731520" y="3383280"/>
            <a:ext cx="5212080" cy="105156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3383280"/>
            <a:ext cx="109728" cy="1051560"/>
          </a:xfrm>
          <a:prstGeom prst="rect">
            <a:avLst/>
          </a:prstGeom>
          <a:solidFill>
            <a:srgbClr val="1E6F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520440"/>
            <a:ext cx="4754880" cy="365760"/>
          </a:xfrm>
          <a:prstGeom prst="rect">
            <a:avLst/>
          </a:prstGeom>
          <a:noFill/>
        </p:spPr>
        <p:txBody>
          <a:bodyPr wrap="square" lIns="0" rIns="0" tIns="0" bIns="0" anchor="t">
            <a:spAutoFit/>
          </a:bodyPr>
          <a:lstStyle/>
          <a:p>
            <a:pPr algn="l">
              <a:lnSpc>
                <a:spcPct val="110000"/>
              </a:lnSpc>
            </a:pPr>
            <a:r>
              <a:rPr sz="1900" b="1">
                <a:solidFill>
                  <a:srgbClr val="0F2430"/>
                </a:solidFill>
                <a:latin typeface="Segoe UI"/>
              </a:rPr>
              <a:t>Technician</a:t>
            </a:r>
          </a:p>
        </p:txBody>
      </p:sp>
      <p:sp>
        <p:nvSpPr>
          <p:cNvPr id="11" name="TextBox 10"/>
          <p:cNvSpPr txBox="1"/>
          <p:nvPr/>
        </p:nvSpPr>
        <p:spPr>
          <a:xfrm>
            <a:off x="1051560" y="3858768"/>
            <a:ext cx="4754880" cy="548640"/>
          </a:xfrm>
          <a:prstGeom prst="rect">
            <a:avLst/>
          </a:prstGeom>
          <a:noFill/>
        </p:spPr>
        <p:txBody>
          <a:bodyPr wrap="square" lIns="0" rIns="0" tIns="0" bIns="0" anchor="t">
            <a:spAutoFit/>
          </a:bodyPr>
          <a:lstStyle/>
          <a:p>
            <a:pPr algn="l">
              <a:lnSpc>
                <a:spcPct val="110000"/>
              </a:lnSpc>
            </a:pPr>
            <a:r>
              <a:rPr sz="1350" b="0">
                <a:solidFill>
                  <a:srgbClr val="5B6B73"/>
                </a:solidFill>
                <a:latin typeface="Segoe UI"/>
              </a:rPr>
              <a:t>Finds nearby matching jobs, sends offers, inspects, quotes, repairs, gets paid via bKash</a:t>
            </a:r>
          </a:p>
        </p:txBody>
      </p:sp>
      <p:sp>
        <p:nvSpPr>
          <p:cNvPr id="12" name="Rounded Rectangle 11"/>
          <p:cNvSpPr/>
          <p:nvPr/>
        </p:nvSpPr>
        <p:spPr>
          <a:xfrm>
            <a:off x="731520" y="4617720"/>
            <a:ext cx="5212080" cy="105156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4617720"/>
            <a:ext cx="109728" cy="1051560"/>
          </a:xfrm>
          <a:prstGeom prst="rect">
            <a:avLst/>
          </a:prstGeom>
          <a:solidFill>
            <a:srgbClr val="1E6F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754880"/>
            <a:ext cx="4754880" cy="365760"/>
          </a:xfrm>
          <a:prstGeom prst="rect">
            <a:avLst/>
          </a:prstGeom>
          <a:noFill/>
        </p:spPr>
        <p:txBody>
          <a:bodyPr wrap="square" lIns="0" rIns="0" tIns="0" bIns="0" anchor="t">
            <a:spAutoFit/>
          </a:bodyPr>
          <a:lstStyle/>
          <a:p>
            <a:pPr algn="l">
              <a:lnSpc>
                <a:spcPct val="110000"/>
              </a:lnSpc>
            </a:pPr>
            <a:r>
              <a:rPr sz="1900" b="1">
                <a:solidFill>
                  <a:srgbClr val="0F2430"/>
                </a:solidFill>
                <a:latin typeface="Segoe UI"/>
              </a:rPr>
              <a:t>Admin</a:t>
            </a:r>
          </a:p>
        </p:txBody>
      </p:sp>
      <p:sp>
        <p:nvSpPr>
          <p:cNvPr id="15" name="TextBox 14"/>
          <p:cNvSpPr txBox="1"/>
          <p:nvPr/>
        </p:nvSpPr>
        <p:spPr>
          <a:xfrm>
            <a:off x="1051560" y="5093208"/>
            <a:ext cx="4754880" cy="548640"/>
          </a:xfrm>
          <a:prstGeom prst="rect">
            <a:avLst/>
          </a:prstGeom>
          <a:noFill/>
        </p:spPr>
        <p:txBody>
          <a:bodyPr wrap="square" lIns="0" rIns="0" tIns="0" bIns="0" anchor="t">
            <a:spAutoFit/>
          </a:bodyPr>
          <a:lstStyle/>
          <a:p>
            <a:pPr algn="l">
              <a:lnSpc>
                <a:spcPct val="110000"/>
              </a:lnSpc>
            </a:pPr>
            <a:r>
              <a:rPr sz="1350" b="0">
                <a:solidFill>
                  <a:srgbClr val="5B6B73"/>
                </a:solidFill>
                <a:latin typeface="Segoe UI"/>
              </a:rPr>
              <a:t>Approves technicians, manages prices, handles refunds and late pickups, reads reports</a:t>
            </a:r>
          </a:p>
        </p:txBody>
      </p:sp>
      <p:pic>
        <p:nvPicPr>
          <p:cNvPr id="16" name="Picture 15" descr="home.png"/>
          <p:cNvPicPr>
            <a:picLocks noChangeAspect="1"/>
          </p:cNvPicPr>
          <p:nvPr/>
        </p:nvPicPr>
        <p:blipFill>
          <a:blip r:embed="rId2"/>
          <a:stretch>
            <a:fillRect/>
          </a:stretch>
        </p:blipFill>
        <p:spPr>
          <a:xfrm>
            <a:off x="6309360" y="914400"/>
            <a:ext cx="5166360" cy="3228975"/>
          </a:xfrm>
          <a:prstGeom prst="rect">
            <a:avLst/>
          </a:prstGeom>
          <a:ln w="12700">
            <a:solidFill>
              <a:srgbClr val="E2E5E1"/>
            </a:solidFill>
          </a:ln>
        </p:spPr>
      </p:pic>
      <p:sp>
        <p:nvSpPr>
          <p:cNvPr id="17" name="TextBox 16"/>
          <p:cNvSpPr txBox="1"/>
          <p:nvPr/>
        </p:nvSpPr>
        <p:spPr>
          <a:xfrm>
            <a:off x="6309360" y="4251960"/>
            <a:ext cx="5166360" cy="274320"/>
          </a:xfrm>
          <a:prstGeom prst="rect">
            <a:avLst/>
          </a:prstGeom>
          <a:noFill/>
        </p:spPr>
        <p:txBody>
          <a:bodyPr wrap="square" lIns="0" rIns="0" tIns="0" bIns="0" anchor="t">
            <a:spAutoFit/>
          </a:bodyPr>
          <a:lstStyle/>
          <a:p>
            <a:pPr algn="ctr">
              <a:lnSpc>
                <a:spcPct val="110000"/>
              </a:lnSpc>
            </a:pPr>
            <a:r>
              <a:rPr sz="1200" b="0">
                <a:solidFill>
                  <a:srgbClr val="5B6B73"/>
                </a:solidFill>
                <a:latin typeface="Segoe UI"/>
              </a:rPr>
              <a:t>Live at sarabo-jahid.web.app</a:t>
            </a:r>
          </a:p>
        </p:txBody>
      </p:sp>
      <p:sp>
        <p:nvSpPr>
          <p:cNvPr id="18" name="TextBox 17"/>
          <p:cNvSpPr txBox="1"/>
          <p:nvPr/>
        </p:nvSpPr>
        <p:spPr>
          <a:xfrm>
            <a:off x="6309360" y="4754880"/>
            <a:ext cx="5166360" cy="1097280"/>
          </a:xfrm>
          <a:prstGeom prst="rect">
            <a:avLst/>
          </a:prstGeom>
          <a:noFill/>
        </p:spPr>
        <p:txBody>
          <a:bodyPr wrap="square" lIns="0" rIns="0" tIns="0" bIns="0" anchor="t">
            <a:spAutoFit/>
          </a:bodyPr>
          <a:lstStyle/>
          <a:p>
            <a:pPr algn="ctr">
              <a:lnSpc>
                <a:spcPct val="110000"/>
              </a:lnSpc>
            </a:pPr>
            <a:r>
              <a:rPr sz="3000" b="1">
                <a:solidFill>
                  <a:srgbClr val="0F2430"/>
                </a:solidFill>
                <a:latin typeface="Segoe UI"/>
              </a:rPr>
              <a:t>45</a:t>
            </a:r>
            <a:r>
              <a:rPr sz="1500" b="0">
                <a:solidFill>
                  <a:srgbClr val="5B6B73"/>
                </a:solidFill>
                <a:latin typeface="Segoe UI"/>
              </a:rPr>
              <a:t>  services   </a:t>
            </a:r>
            <a:r>
              <a:rPr sz="3000" b="1">
                <a:solidFill>
                  <a:srgbClr val="0F2430"/>
                </a:solidFill>
                <a:latin typeface="Segoe UI"/>
              </a:rPr>
              <a:t>8</a:t>
            </a:r>
            <a:r>
              <a:rPr sz="1500" b="0">
                <a:solidFill>
                  <a:srgbClr val="5B6B73"/>
                </a:solidFill>
                <a:latin typeface="Segoe UI"/>
              </a:rPr>
              <a:t>  device types   </a:t>
            </a:r>
            <a:r>
              <a:rPr sz="3000" b="1">
                <a:solidFill>
                  <a:srgbClr val="0F2430"/>
                </a:solidFill>
                <a:latin typeface="Segoe UI"/>
              </a:rPr>
              <a:t>BDT</a:t>
            </a:r>
            <a:r>
              <a:rPr sz="1500" b="0">
                <a:solidFill>
                  <a:srgbClr val="5B6B73"/>
                </a:solidFill>
                <a:latin typeface="Segoe UI"/>
              </a:rPr>
              <a:t>  prices</a:t>
            </a:r>
          </a:p>
        </p:txBody>
      </p:sp>
      <p:sp>
        <p:nvSpPr>
          <p:cNvPr id="19" name="TextBox 18"/>
          <p:cNvSpPr txBox="1"/>
          <p:nvPr/>
        </p:nvSpPr>
        <p:spPr>
          <a:xfrm>
            <a:off x="731520" y="6400800"/>
            <a:ext cx="5486400" cy="274320"/>
          </a:xfrm>
          <a:prstGeom prst="rect">
            <a:avLst/>
          </a:prstGeom>
          <a:noFill/>
        </p:spPr>
        <p:txBody>
          <a:bodyPr wrap="square" lIns="0" rIns="0" tIns="0" bIns="0" anchor="t">
            <a:spAutoFit/>
          </a:bodyPr>
          <a:lstStyle/>
          <a:p>
            <a:pPr algn="l">
              <a:lnSpc>
                <a:spcPct val="110000"/>
              </a:lnSpc>
            </a:pPr>
            <a:r>
              <a:rPr sz="1000" b="0">
                <a:solidFill>
                  <a:srgbClr val="5B6B73"/>
                </a:solidFill>
                <a:latin typeface="Segoe UI"/>
              </a:rPr>
              <a:t>Sarabo  ·  Jahid Hasan  ·  Metropolitan University</a:t>
            </a:r>
          </a:p>
        </p:txBody>
      </p:sp>
      <p:sp>
        <p:nvSpPr>
          <p:cNvPr id="20" name="TextBox 19"/>
          <p:cNvSpPr txBox="1"/>
          <p:nvPr/>
        </p:nvSpPr>
        <p:spPr>
          <a:xfrm>
            <a:off x="10728655" y="6400800"/>
            <a:ext cx="731520" cy="274320"/>
          </a:xfrm>
          <a:prstGeom prst="rect">
            <a:avLst/>
          </a:prstGeom>
          <a:noFill/>
        </p:spPr>
        <p:txBody>
          <a:bodyPr wrap="square" lIns="0" rIns="0" tIns="0" bIns="0" anchor="t">
            <a:spAutoFit/>
          </a:bodyPr>
          <a:lstStyle/>
          <a:p>
            <a:pPr algn="r">
              <a:lnSpc>
                <a:spcPct val="110000"/>
              </a:lnSpc>
            </a:pPr>
            <a:r>
              <a:rPr sz="1000" b="0">
                <a:solidFill>
                  <a:srgbClr val="5B6B73"/>
                </a:solidFill>
                <a:latin typeface="Segoe UI"/>
              </a:rPr>
              <a:t>3/10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731520" y="502920"/>
            <a:ext cx="7315200" cy="320040"/>
          </a:xfrm>
          <a:prstGeom prst="rect">
            <a:avLst/>
          </a:prstGeom>
          <a:noFill/>
        </p:spPr>
        <p:txBody>
          <a:bodyPr wrap="square" lIns="0" rIns="0" tIns="0" bIns="0" anchor="t">
            <a:spAutoFit/>
          </a:bodyPr>
          <a:lstStyle/>
          <a:p>
            <a:pPr algn="l">
              <a:lnSpc>
                <a:spcPct val="110000"/>
              </a:lnSpc>
            </a:pPr>
            <a:r>
              <a:rPr sz="1300" b="1">
                <a:solidFill>
                  <a:srgbClr val="1E6F63"/>
                </a:solidFill>
                <a:latin typeface="Segoe UI"/>
              </a:rPr>
              <a:t>HOW IT WORKS</a:t>
            </a:r>
          </a:p>
        </p:txBody>
      </p:sp>
      <p:sp>
        <p:nvSpPr>
          <p:cNvPr id="3" name="TextBox 2"/>
          <p:cNvSpPr txBox="1"/>
          <p:nvPr/>
        </p:nvSpPr>
        <p:spPr>
          <a:xfrm>
            <a:off x="731520" y="822960"/>
            <a:ext cx="10698480" cy="822960"/>
          </a:xfrm>
          <a:prstGeom prst="rect">
            <a:avLst/>
          </a:prstGeom>
          <a:noFill/>
        </p:spPr>
        <p:txBody>
          <a:bodyPr wrap="square" lIns="0" rIns="0" tIns="0" bIns="0" anchor="t">
            <a:spAutoFit/>
          </a:bodyPr>
          <a:lstStyle/>
          <a:p>
            <a:pPr algn="l">
              <a:lnSpc>
                <a:spcPct val="110000"/>
              </a:lnSpc>
            </a:pPr>
            <a:r>
              <a:rPr sz="3400" b="1">
                <a:solidFill>
                  <a:srgbClr val="0F2430"/>
                </a:solidFill>
                <a:latin typeface="Segoe UI"/>
              </a:rPr>
              <a:t>From broken device to paid technician</a:t>
            </a:r>
          </a:p>
        </p:txBody>
      </p:sp>
      <p:sp>
        <p:nvSpPr>
          <p:cNvPr id="4" name="Rounded Rectangle 3"/>
          <p:cNvSpPr/>
          <p:nvPr/>
        </p:nvSpPr>
        <p:spPr>
          <a:xfrm>
            <a:off x="731520" y="2103120"/>
            <a:ext cx="1691640" cy="301752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0120" y="2331720"/>
            <a:ext cx="566928" cy="566928"/>
          </a:xfrm>
          <a:prstGeom prst="ellipse">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31720"/>
            <a:ext cx="566928" cy="566928"/>
          </a:xfrm>
          <a:prstGeom prst="rect">
            <a:avLst/>
          </a:prstGeom>
          <a:noFill/>
        </p:spPr>
        <p:txBody>
          <a:bodyPr wrap="square" lIns="0" rIns="0" tIns="0" bIns="0" anchor="ctr">
            <a:spAutoFit/>
          </a:bodyPr>
          <a:lstStyle/>
          <a:p>
            <a:pPr algn="ctr">
              <a:lnSpc>
                <a:spcPct val="110000"/>
              </a:lnSpc>
            </a:pPr>
            <a:r>
              <a:rPr sz="1800" b="1">
                <a:solidFill>
                  <a:srgbClr val="FFFFFF"/>
                </a:solidFill>
                <a:latin typeface="Segoe UI"/>
              </a:rPr>
              <a:t>1</a:t>
            </a:r>
          </a:p>
        </p:txBody>
      </p:sp>
      <p:sp>
        <p:nvSpPr>
          <p:cNvPr id="7" name="TextBox 6"/>
          <p:cNvSpPr txBox="1"/>
          <p:nvPr/>
        </p:nvSpPr>
        <p:spPr>
          <a:xfrm>
            <a:off x="960120" y="3063240"/>
            <a:ext cx="1325880" cy="45720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Request</a:t>
            </a:r>
          </a:p>
        </p:txBody>
      </p:sp>
      <p:sp>
        <p:nvSpPr>
          <p:cNvPr id="8" name="TextBox 7"/>
          <p:cNvSpPr txBox="1"/>
          <p:nvPr/>
        </p:nvSpPr>
        <p:spPr>
          <a:xfrm>
            <a:off x="960120" y="3520440"/>
            <a:ext cx="1280160" cy="1554480"/>
          </a:xfrm>
          <a:prstGeom prst="rect">
            <a:avLst/>
          </a:prstGeom>
          <a:noFill/>
        </p:spPr>
        <p:txBody>
          <a:bodyPr wrap="square" lIns="0" rIns="0" tIns="0" bIns="0" anchor="t">
            <a:spAutoFit/>
          </a:bodyPr>
          <a:lstStyle/>
          <a:p>
            <a:pPr algn="l">
              <a:lnSpc>
                <a:spcPct val="115000"/>
              </a:lnSpc>
            </a:pPr>
            <a:r>
              <a:rPr sz="1250" b="0">
                <a:solidFill>
                  <a:srgbClr val="5B6B73"/>
                </a:solidFill>
                <a:latin typeface="Segoe UI"/>
              </a:rPr>
              <a:t>Describe the problem (AI can fill the form), add photos, pick a pickup slot</a:t>
            </a:r>
          </a:p>
        </p:txBody>
      </p:sp>
      <p:sp>
        <p:nvSpPr>
          <p:cNvPr id="9" name="Rounded Rectangle 8"/>
          <p:cNvSpPr/>
          <p:nvPr/>
        </p:nvSpPr>
        <p:spPr>
          <a:xfrm>
            <a:off x="2532888" y="2103120"/>
            <a:ext cx="1691640" cy="301752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761488" y="2331720"/>
            <a:ext cx="566928" cy="566928"/>
          </a:xfrm>
          <a:prstGeom prst="ellipse">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61488" y="2331720"/>
            <a:ext cx="566928" cy="566928"/>
          </a:xfrm>
          <a:prstGeom prst="rect">
            <a:avLst/>
          </a:prstGeom>
          <a:noFill/>
        </p:spPr>
        <p:txBody>
          <a:bodyPr wrap="square" lIns="0" rIns="0" tIns="0" bIns="0" anchor="ctr">
            <a:spAutoFit/>
          </a:bodyPr>
          <a:lstStyle/>
          <a:p>
            <a:pPr algn="ctr">
              <a:lnSpc>
                <a:spcPct val="110000"/>
              </a:lnSpc>
            </a:pPr>
            <a:r>
              <a:rPr sz="1800" b="1">
                <a:solidFill>
                  <a:srgbClr val="FFFFFF"/>
                </a:solidFill>
                <a:latin typeface="Segoe UI"/>
              </a:rPr>
              <a:t>2</a:t>
            </a:r>
          </a:p>
        </p:txBody>
      </p:sp>
      <p:sp>
        <p:nvSpPr>
          <p:cNvPr id="12" name="TextBox 11"/>
          <p:cNvSpPr txBox="1"/>
          <p:nvPr/>
        </p:nvSpPr>
        <p:spPr>
          <a:xfrm>
            <a:off x="2761488" y="3063240"/>
            <a:ext cx="1325880" cy="45720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Offers</a:t>
            </a:r>
          </a:p>
        </p:txBody>
      </p:sp>
      <p:sp>
        <p:nvSpPr>
          <p:cNvPr id="13" name="TextBox 12"/>
          <p:cNvSpPr txBox="1"/>
          <p:nvPr/>
        </p:nvSpPr>
        <p:spPr>
          <a:xfrm>
            <a:off x="2761488" y="3520440"/>
            <a:ext cx="1280160" cy="1554480"/>
          </a:xfrm>
          <a:prstGeom prst="rect">
            <a:avLst/>
          </a:prstGeom>
          <a:noFill/>
        </p:spPr>
        <p:txBody>
          <a:bodyPr wrap="square" lIns="0" rIns="0" tIns="0" bIns="0" anchor="t">
            <a:spAutoFit/>
          </a:bodyPr>
          <a:lstStyle/>
          <a:p>
            <a:pPr algn="l">
              <a:lnSpc>
                <a:spcPct val="115000"/>
              </a:lnSpc>
            </a:pPr>
            <a:r>
              <a:rPr sz="1250" b="0">
                <a:solidFill>
                  <a:srgbClr val="5B6B73"/>
                </a:solidFill>
                <a:latin typeface="Segoe UI"/>
              </a:rPr>
              <a:t>Matching technicians in the region send estimate + inspection fee</a:t>
            </a:r>
          </a:p>
        </p:txBody>
      </p:sp>
      <p:sp>
        <p:nvSpPr>
          <p:cNvPr id="14" name="Rounded Rectangle 13"/>
          <p:cNvSpPr/>
          <p:nvPr/>
        </p:nvSpPr>
        <p:spPr>
          <a:xfrm>
            <a:off x="4334256" y="2103120"/>
            <a:ext cx="1691640" cy="301752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62856" y="2331720"/>
            <a:ext cx="566928" cy="566928"/>
          </a:xfrm>
          <a:prstGeom prst="ellipse">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2856" y="2331720"/>
            <a:ext cx="566928" cy="566928"/>
          </a:xfrm>
          <a:prstGeom prst="rect">
            <a:avLst/>
          </a:prstGeom>
          <a:noFill/>
        </p:spPr>
        <p:txBody>
          <a:bodyPr wrap="square" lIns="0" rIns="0" tIns="0" bIns="0" anchor="ctr">
            <a:spAutoFit/>
          </a:bodyPr>
          <a:lstStyle/>
          <a:p>
            <a:pPr algn="ctr">
              <a:lnSpc>
                <a:spcPct val="110000"/>
              </a:lnSpc>
            </a:pPr>
            <a:r>
              <a:rPr sz="1800" b="1">
                <a:solidFill>
                  <a:srgbClr val="0F2430"/>
                </a:solidFill>
                <a:latin typeface="Segoe UI"/>
              </a:rPr>
              <a:t>3</a:t>
            </a:r>
          </a:p>
        </p:txBody>
      </p:sp>
      <p:sp>
        <p:nvSpPr>
          <p:cNvPr id="17" name="TextBox 16"/>
          <p:cNvSpPr txBox="1"/>
          <p:nvPr/>
        </p:nvSpPr>
        <p:spPr>
          <a:xfrm>
            <a:off x="4562856" y="3063240"/>
            <a:ext cx="1325880" cy="45720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Book</a:t>
            </a:r>
          </a:p>
        </p:txBody>
      </p:sp>
      <p:sp>
        <p:nvSpPr>
          <p:cNvPr id="18" name="TextBox 17"/>
          <p:cNvSpPr txBox="1"/>
          <p:nvPr/>
        </p:nvSpPr>
        <p:spPr>
          <a:xfrm>
            <a:off x="4562856" y="3520440"/>
            <a:ext cx="1280160" cy="1554480"/>
          </a:xfrm>
          <a:prstGeom prst="rect">
            <a:avLst/>
          </a:prstGeom>
          <a:noFill/>
        </p:spPr>
        <p:txBody>
          <a:bodyPr wrap="square" lIns="0" rIns="0" tIns="0" bIns="0" anchor="t">
            <a:spAutoFit/>
          </a:bodyPr>
          <a:lstStyle/>
          <a:p>
            <a:pPr algn="l">
              <a:lnSpc>
                <a:spcPct val="115000"/>
              </a:lnSpc>
            </a:pPr>
            <a:r>
              <a:rPr sz="1250" b="0">
                <a:solidFill>
                  <a:srgbClr val="5B6B73"/>
                </a:solidFill>
                <a:latin typeface="Segoe UI"/>
              </a:rPr>
              <a:t>Customer chooses one and pays the fee — technician booked atomically</a:t>
            </a:r>
          </a:p>
        </p:txBody>
      </p:sp>
      <p:sp>
        <p:nvSpPr>
          <p:cNvPr id="19" name="Rounded Rectangle 18"/>
          <p:cNvSpPr/>
          <p:nvPr/>
        </p:nvSpPr>
        <p:spPr>
          <a:xfrm>
            <a:off x="6135624" y="2103120"/>
            <a:ext cx="1691640" cy="301752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64224" y="2331720"/>
            <a:ext cx="566928" cy="566928"/>
          </a:xfrm>
          <a:prstGeom prst="ellipse">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2331720"/>
            <a:ext cx="566928" cy="566928"/>
          </a:xfrm>
          <a:prstGeom prst="rect">
            <a:avLst/>
          </a:prstGeom>
          <a:noFill/>
        </p:spPr>
        <p:txBody>
          <a:bodyPr wrap="square" lIns="0" rIns="0" tIns="0" bIns="0" anchor="ctr">
            <a:spAutoFit/>
          </a:bodyPr>
          <a:lstStyle/>
          <a:p>
            <a:pPr algn="ctr">
              <a:lnSpc>
                <a:spcPct val="110000"/>
              </a:lnSpc>
            </a:pPr>
            <a:r>
              <a:rPr sz="1800" b="1">
                <a:solidFill>
                  <a:srgbClr val="FFFFFF"/>
                </a:solidFill>
                <a:latin typeface="Segoe UI"/>
              </a:rPr>
              <a:t>4</a:t>
            </a:r>
          </a:p>
        </p:txBody>
      </p:sp>
      <p:sp>
        <p:nvSpPr>
          <p:cNvPr id="22" name="TextBox 21"/>
          <p:cNvSpPr txBox="1"/>
          <p:nvPr/>
        </p:nvSpPr>
        <p:spPr>
          <a:xfrm>
            <a:off x="6364224" y="3063240"/>
            <a:ext cx="1325880" cy="45720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Quote</a:t>
            </a:r>
          </a:p>
        </p:txBody>
      </p:sp>
      <p:sp>
        <p:nvSpPr>
          <p:cNvPr id="23" name="TextBox 22"/>
          <p:cNvSpPr txBox="1"/>
          <p:nvPr/>
        </p:nvSpPr>
        <p:spPr>
          <a:xfrm>
            <a:off x="6364224" y="3520440"/>
            <a:ext cx="1280160" cy="1554480"/>
          </a:xfrm>
          <a:prstGeom prst="rect">
            <a:avLst/>
          </a:prstGeom>
          <a:noFill/>
        </p:spPr>
        <p:txBody>
          <a:bodyPr wrap="square" lIns="0" rIns="0" tIns="0" bIns="0" anchor="t">
            <a:spAutoFit/>
          </a:bodyPr>
          <a:lstStyle/>
          <a:p>
            <a:pPr algn="l">
              <a:lnSpc>
                <a:spcPct val="115000"/>
              </a:lnSpc>
            </a:pPr>
            <a:r>
              <a:rPr sz="1250" b="0">
                <a:solidFill>
                  <a:srgbClr val="5B6B73"/>
                </a:solidFill>
                <a:latin typeface="Segoe UI"/>
              </a:rPr>
              <a:t>Technician inspects, then sends an itemised quote: labour, parts, extras. Approve or reject</a:t>
            </a:r>
          </a:p>
        </p:txBody>
      </p:sp>
      <p:sp>
        <p:nvSpPr>
          <p:cNvPr id="24" name="Rounded Rectangle 23"/>
          <p:cNvSpPr/>
          <p:nvPr/>
        </p:nvSpPr>
        <p:spPr>
          <a:xfrm>
            <a:off x="7936992" y="2103120"/>
            <a:ext cx="1691640" cy="301752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165592" y="2331720"/>
            <a:ext cx="566928" cy="566928"/>
          </a:xfrm>
          <a:prstGeom prst="ellipse">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65592" y="2331720"/>
            <a:ext cx="566928" cy="566928"/>
          </a:xfrm>
          <a:prstGeom prst="rect">
            <a:avLst/>
          </a:prstGeom>
          <a:noFill/>
        </p:spPr>
        <p:txBody>
          <a:bodyPr wrap="square" lIns="0" rIns="0" tIns="0" bIns="0" anchor="ctr">
            <a:spAutoFit/>
          </a:bodyPr>
          <a:lstStyle/>
          <a:p>
            <a:pPr algn="ctr">
              <a:lnSpc>
                <a:spcPct val="110000"/>
              </a:lnSpc>
            </a:pPr>
            <a:r>
              <a:rPr sz="1800" b="1">
                <a:solidFill>
                  <a:srgbClr val="0F2430"/>
                </a:solidFill>
                <a:latin typeface="Segoe UI"/>
              </a:rPr>
              <a:t>5</a:t>
            </a:r>
          </a:p>
        </p:txBody>
      </p:sp>
      <p:sp>
        <p:nvSpPr>
          <p:cNvPr id="27" name="TextBox 26"/>
          <p:cNvSpPr txBox="1"/>
          <p:nvPr/>
        </p:nvSpPr>
        <p:spPr>
          <a:xfrm>
            <a:off x="8165592" y="3063240"/>
            <a:ext cx="1325880" cy="45720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Pay &amp; repair</a:t>
            </a:r>
          </a:p>
        </p:txBody>
      </p:sp>
      <p:sp>
        <p:nvSpPr>
          <p:cNvPr id="28" name="TextBox 27"/>
          <p:cNvSpPr txBox="1"/>
          <p:nvPr/>
        </p:nvSpPr>
        <p:spPr>
          <a:xfrm>
            <a:off x="8165592" y="3520440"/>
            <a:ext cx="1280160" cy="1554480"/>
          </a:xfrm>
          <a:prstGeom prst="rect">
            <a:avLst/>
          </a:prstGeom>
          <a:noFill/>
        </p:spPr>
        <p:txBody>
          <a:bodyPr wrap="square" lIns="0" rIns="0" tIns="0" bIns="0" anchor="t">
            <a:spAutoFit/>
          </a:bodyPr>
          <a:lstStyle/>
          <a:p>
            <a:pPr algn="l">
              <a:lnSpc>
                <a:spcPct val="115000"/>
              </a:lnSpc>
            </a:pPr>
            <a:r>
              <a:rPr sz="1250" b="0">
                <a:solidFill>
                  <a:srgbClr val="5B6B73"/>
                </a:solidFill>
                <a:latin typeface="Segoe UI"/>
              </a:rPr>
              <a:t>Pay the rest (quote − fee already paid); progress tracked</a:t>
            </a:r>
          </a:p>
        </p:txBody>
      </p:sp>
      <p:sp>
        <p:nvSpPr>
          <p:cNvPr id="29" name="Rounded Rectangle 28"/>
          <p:cNvSpPr/>
          <p:nvPr/>
        </p:nvSpPr>
        <p:spPr>
          <a:xfrm>
            <a:off x="9738360" y="2103120"/>
            <a:ext cx="1691640" cy="301752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66960" y="2331720"/>
            <a:ext cx="566928" cy="566928"/>
          </a:xfrm>
          <a:prstGeom prst="ellipse">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66960" y="2331720"/>
            <a:ext cx="566928" cy="566928"/>
          </a:xfrm>
          <a:prstGeom prst="rect">
            <a:avLst/>
          </a:prstGeom>
          <a:noFill/>
        </p:spPr>
        <p:txBody>
          <a:bodyPr wrap="square" lIns="0" rIns="0" tIns="0" bIns="0" anchor="ctr">
            <a:spAutoFit/>
          </a:bodyPr>
          <a:lstStyle/>
          <a:p>
            <a:pPr algn="ctr">
              <a:lnSpc>
                <a:spcPct val="110000"/>
              </a:lnSpc>
            </a:pPr>
            <a:r>
              <a:rPr sz="1800" b="1">
                <a:solidFill>
                  <a:srgbClr val="FFFFFF"/>
                </a:solidFill>
                <a:latin typeface="Segoe UI"/>
              </a:rPr>
              <a:t>6</a:t>
            </a:r>
          </a:p>
        </p:txBody>
      </p:sp>
      <p:sp>
        <p:nvSpPr>
          <p:cNvPr id="32" name="TextBox 31"/>
          <p:cNvSpPr txBox="1"/>
          <p:nvPr/>
        </p:nvSpPr>
        <p:spPr>
          <a:xfrm>
            <a:off x="9966960" y="3063240"/>
            <a:ext cx="1325880" cy="45720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Hand-over</a:t>
            </a:r>
          </a:p>
        </p:txBody>
      </p:sp>
      <p:sp>
        <p:nvSpPr>
          <p:cNvPr id="33" name="TextBox 32"/>
          <p:cNvSpPr txBox="1"/>
          <p:nvPr/>
        </p:nvSpPr>
        <p:spPr>
          <a:xfrm>
            <a:off x="9966960" y="3520440"/>
            <a:ext cx="1280160" cy="1554480"/>
          </a:xfrm>
          <a:prstGeom prst="rect">
            <a:avLst/>
          </a:prstGeom>
          <a:noFill/>
        </p:spPr>
        <p:txBody>
          <a:bodyPr wrap="square" lIns="0" rIns="0" tIns="0" bIns="0" anchor="t">
            <a:spAutoFit/>
          </a:bodyPr>
          <a:lstStyle/>
          <a:p>
            <a:pPr algn="l">
              <a:lnSpc>
                <a:spcPct val="115000"/>
              </a:lnSpc>
            </a:pPr>
            <a:r>
              <a:rPr sz="1250" b="0">
                <a:solidFill>
                  <a:srgbClr val="5B6B73"/>
                </a:solidFill>
                <a:latin typeface="Segoe UI"/>
              </a:rPr>
              <a:t>Customer confirms receipt; technician's 90% becomes withdrawable</a:t>
            </a:r>
          </a:p>
        </p:txBody>
      </p:sp>
      <p:sp>
        <p:nvSpPr>
          <p:cNvPr id="34" name="Rounded Rectangle 33"/>
          <p:cNvSpPr/>
          <p:nvPr/>
        </p:nvSpPr>
        <p:spPr>
          <a:xfrm>
            <a:off x="731520" y="5349240"/>
            <a:ext cx="10698480" cy="731520"/>
          </a:xfrm>
          <a:prstGeom prst="roundRect">
            <a:avLst>
              <a:gd name="adj" fmla="val 8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349240"/>
            <a:ext cx="10241280" cy="731520"/>
          </a:xfrm>
          <a:prstGeom prst="rect">
            <a:avLst/>
          </a:prstGeom>
          <a:noFill/>
        </p:spPr>
        <p:txBody>
          <a:bodyPr wrap="square" lIns="0" rIns="0" tIns="0" bIns="0" anchor="ctr">
            <a:spAutoFit/>
          </a:bodyPr>
          <a:lstStyle/>
          <a:p>
            <a:pPr algn="l">
              <a:lnSpc>
                <a:spcPct val="110000"/>
              </a:lnSpc>
            </a:pPr>
            <a:r>
              <a:rPr sz="1500" b="1">
                <a:solidFill>
                  <a:srgbClr val="F2B138"/>
                </a:solidFill>
                <a:latin typeface="Segoe UI"/>
              </a:rPr>
              <a:t>Fair by design:  </a:t>
            </a:r>
            <a:r>
              <a:rPr sz="1500" b="0">
                <a:solidFill>
                  <a:srgbClr val="FFFFFF"/>
                </a:solidFill>
                <a:latin typeface="Segoe UI"/>
              </a:rPr>
              <a:t>fee refunded if the technician doesn't come or the customer cancels ≥ 2 h before; otherwise kept and split 90/10</a:t>
            </a:r>
          </a:p>
        </p:txBody>
      </p:sp>
      <p:sp>
        <p:nvSpPr>
          <p:cNvPr id="36" name="TextBox 35"/>
          <p:cNvSpPr txBox="1"/>
          <p:nvPr/>
        </p:nvSpPr>
        <p:spPr>
          <a:xfrm>
            <a:off x="731520" y="6400800"/>
            <a:ext cx="5486400" cy="274320"/>
          </a:xfrm>
          <a:prstGeom prst="rect">
            <a:avLst/>
          </a:prstGeom>
          <a:noFill/>
        </p:spPr>
        <p:txBody>
          <a:bodyPr wrap="square" lIns="0" rIns="0" tIns="0" bIns="0" anchor="t">
            <a:spAutoFit/>
          </a:bodyPr>
          <a:lstStyle/>
          <a:p>
            <a:pPr algn="l">
              <a:lnSpc>
                <a:spcPct val="110000"/>
              </a:lnSpc>
            </a:pPr>
            <a:r>
              <a:rPr sz="1000" b="0">
                <a:solidFill>
                  <a:srgbClr val="5B6B73"/>
                </a:solidFill>
                <a:latin typeface="Segoe UI"/>
              </a:rPr>
              <a:t>Sarabo  ·  Jahid Hasan  ·  Metropolitan University</a:t>
            </a:r>
          </a:p>
        </p:txBody>
      </p:sp>
      <p:sp>
        <p:nvSpPr>
          <p:cNvPr id="37" name="TextBox 36"/>
          <p:cNvSpPr txBox="1"/>
          <p:nvPr/>
        </p:nvSpPr>
        <p:spPr>
          <a:xfrm>
            <a:off x="10728655" y="6400800"/>
            <a:ext cx="731520" cy="274320"/>
          </a:xfrm>
          <a:prstGeom prst="rect">
            <a:avLst/>
          </a:prstGeom>
          <a:noFill/>
        </p:spPr>
        <p:txBody>
          <a:bodyPr wrap="square" lIns="0" rIns="0" tIns="0" bIns="0" anchor="t">
            <a:spAutoFit/>
          </a:bodyPr>
          <a:lstStyle/>
          <a:p>
            <a:pPr algn="r">
              <a:lnSpc>
                <a:spcPct val="110000"/>
              </a:lnSpc>
            </a:pPr>
            <a:r>
              <a:rPr sz="1000" b="0">
                <a:solidFill>
                  <a:srgbClr val="5B6B73"/>
                </a:solidFill>
                <a:latin typeface="Segoe UI"/>
              </a:rPr>
              <a:t>4/10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731520" y="502920"/>
            <a:ext cx="7315200" cy="320040"/>
          </a:xfrm>
          <a:prstGeom prst="rect">
            <a:avLst/>
          </a:prstGeom>
          <a:noFill/>
        </p:spPr>
        <p:txBody>
          <a:bodyPr wrap="square" lIns="0" rIns="0" tIns="0" bIns="0" anchor="t">
            <a:spAutoFit/>
          </a:bodyPr>
          <a:lstStyle/>
          <a:p>
            <a:pPr algn="l">
              <a:lnSpc>
                <a:spcPct val="110000"/>
              </a:lnSpc>
            </a:pPr>
            <a:r>
              <a:rPr sz="1300" b="1">
                <a:solidFill>
                  <a:srgbClr val="1E6F63"/>
                </a:solidFill>
                <a:latin typeface="Segoe UI"/>
              </a:rPr>
              <a:t>KEY FEATURES</a:t>
            </a:r>
          </a:p>
        </p:txBody>
      </p:sp>
      <p:sp>
        <p:nvSpPr>
          <p:cNvPr id="3" name="TextBox 2"/>
          <p:cNvSpPr txBox="1"/>
          <p:nvPr/>
        </p:nvSpPr>
        <p:spPr>
          <a:xfrm>
            <a:off x="731520" y="822960"/>
            <a:ext cx="10698480" cy="822960"/>
          </a:xfrm>
          <a:prstGeom prst="rect">
            <a:avLst/>
          </a:prstGeom>
          <a:noFill/>
        </p:spPr>
        <p:txBody>
          <a:bodyPr wrap="square" lIns="0" rIns="0" tIns="0" bIns="0" anchor="t">
            <a:spAutoFit/>
          </a:bodyPr>
          <a:lstStyle/>
          <a:p>
            <a:pPr algn="l">
              <a:lnSpc>
                <a:spcPct val="110000"/>
              </a:lnSpc>
            </a:pPr>
            <a:r>
              <a:rPr sz="3400" b="1">
                <a:solidFill>
                  <a:srgbClr val="0F2430"/>
                </a:solidFill>
                <a:latin typeface="Segoe UI"/>
              </a:rPr>
              <a:t>An open job portal and transparent tracking</a:t>
            </a:r>
          </a:p>
        </p:txBody>
      </p:sp>
      <p:pic>
        <p:nvPicPr>
          <p:cNvPr id="4" name="Picture 3" descr="jobs.png"/>
          <p:cNvPicPr>
            <a:picLocks noChangeAspect="1"/>
          </p:cNvPicPr>
          <p:nvPr/>
        </p:nvPicPr>
        <p:blipFill>
          <a:blip r:embed="rId2"/>
          <a:stretch>
            <a:fillRect/>
          </a:stretch>
        </p:blipFill>
        <p:spPr>
          <a:xfrm>
            <a:off x="731520" y="1828800"/>
            <a:ext cx="5257800" cy="3286125"/>
          </a:xfrm>
          <a:prstGeom prst="rect">
            <a:avLst/>
          </a:prstGeom>
          <a:ln w="12700">
            <a:solidFill>
              <a:srgbClr val="E2E5E1"/>
            </a:solidFill>
          </a:ln>
        </p:spPr>
      </p:pic>
      <p:pic>
        <p:nvPicPr>
          <p:cNvPr id="5" name="Picture 4" descr="tracking.png"/>
          <p:cNvPicPr>
            <a:picLocks noChangeAspect="1"/>
          </p:cNvPicPr>
          <p:nvPr/>
        </p:nvPicPr>
        <p:blipFill>
          <a:blip r:embed="rId3"/>
          <a:stretch>
            <a:fillRect/>
          </a:stretch>
        </p:blipFill>
        <p:spPr>
          <a:xfrm>
            <a:off x="6199632" y="1828800"/>
            <a:ext cx="5257800" cy="3286125"/>
          </a:xfrm>
          <a:prstGeom prst="rect">
            <a:avLst/>
          </a:prstGeom>
          <a:ln w="12700">
            <a:solidFill>
              <a:srgbClr val="E2E5E1"/>
            </a:solidFill>
          </a:ln>
        </p:spPr>
      </p:pic>
      <p:sp>
        <p:nvSpPr>
          <p:cNvPr id="6" name="TextBox 5"/>
          <p:cNvSpPr txBox="1"/>
          <p:nvPr/>
        </p:nvSpPr>
        <p:spPr>
          <a:xfrm>
            <a:off x="731520" y="5212080"/>
            <a:ext cx="5257800" cy="914400"/>
          </a:xfrm>
          <a:prstGeom prst="rect">
            <a:avLst/>
          </a:prstGeom>
          <a:noFill/>
        </p:spPr>
        <p:txBody>
          <a:bodyPr wrap="square" lIns="0" rIns="0" tIns="0" bIns="0" anchor="t">
            <a:spAutoFit/>
          </a:bodyPr>
          <a:lstStyle/>
          <a:p>
            <a:pPr algn="l">
              <a:lnSpc>
                <a:spcPct val="110000"/>
              </a:lnSpc>
            </a:pPr>
            <a:r>
              <a:rPr sz="1400" b="1">
                <a:solidFill>
                  <a:srgbClr val="0F2430"/>
                </a:solidFill>
                <a:latin typeface="Segoe UI"/>
              </a:rPr>
              <a:t>Jobs board  </a:t>
            </a:r>
            <a:r>
              <a:rPr sz="1400" b="0">
                <a:solidFill>
                  <a:srgbClr val="5B6B73"/>
                </a:solidFill>
                <a:latin typeface="Segoe UI"/>
              </a:rPr>
              <a:t>safe public summary; matching technicians notified; rejected offer → job reposted</a:t>
            </a:r>
          </a:p>
        </p:txBody>
      </p:sp>
      <p:sp>
        <p:nvSpPr>
          <p:cNvPr id="7" name="TextBox 6"/>
          <p:cNvSpPr txBox="1"/>
          <p:nvPr/>
        </p:nvSpPr>
        <p:spPr>
          <a:xfrm>
            <a:off x="6199632" y="5212080"/>
            <a:ext cx="5257800" cy="914400"/>
          </a:xfrm>
          <a:prstGeom prst="rect">
            <a:avLst/>
          </a:prstGeom>
          <a:noFill/>
        </p:spPr>
        <p:txBody>
          <a:bodyPr wrap="square" lIns="0" rIns="0" tIns="0" bIns="0" anchor="t">
            <a:spAutoFit/>
          </a:bodyPr>
          <a:lstStyle/>
          <a:p>
            <a:pPr algn="l">
              <a:lnSpc>
                <a:spcPct val="110000"/>
              </a:lnSpc>
            </a:pPr>
            <a:r>
              <a:rPr sz="1400" b="1">
                <a:solidFill>
                  <a:srgbClr val="0F2430"/>
                </a:solidFill>
                <a:latin typeface="Segoe UI"/>
              </a:rPr>
              <a:t>Public tracking  </a:t>
            </a:r>
            <a:r>
              <a:rPr sz="1400" b="0">
                <a:solidFill>
                  <a:srgbClr val="5B6B73"/>
                </a:solidFill>
                <a:latin typeface="Segoe UI"/>
              </a:rPr>
              <a:t>128-bit code, status timeline only — no names, addresses or payment data</a:t>
            </a:r>
          </a:p>
        </p:txBody>
      </p:sp>
      <p:sp>
        <p:nvSpPr>
          <p:cNvPr id="8" name="TextBox 7"/>
          <p:cNvSpPr txBox="1"/>
          <p:nvPr/>
        </p:nvSpPr>
        <p:spPr>
          <a:xfrm>
            <a:off x="731520" y="6400800"/>
            <a:ext cx="5486400" cy="274320"/>
          </a:xfrm>
          <a:prstGeom prst="rect">
            <a:avLst/>
          </a:prstGeom>
          <a:noFill/>
        </p:spPr>
        <p:txBody>
          <a:bodyPr wrap="square" lIns="0" rIns="0" tIns="0" bIns="0" anchor="t">
            <a:spAutoFit/>
          </a:bodyPr>
          <a:lstStyle/>
          <a:p>
            <a:pPr algn="l">
              <a:lnSpc>
                <a:spcPct val="110000"/>
              </a:lnSpc>
            </a:pPr>
            <a:r>
              <a:rPr sz="1000" b="0">
                <a:solidFill>
                  <a:srgbClr val="5B6B73"/>
                </a:solidFill>
                <a:latin typeface="Segoe UI"/>
              </a:rPr>
              <a:t>Sarabo  ·  Jahid Hasan  ·  Metropolitan University</a:t>
            </a:r>
          </a:p>
        </p:txBody>
      </p:sp>
      <p:sp>
        <p:nvSpPr>
          <p:cNvPr id="9" name="TextBox 8"/>
          <p:cNvSpPr txBox="1"/>
          <p:nvPr/>
        </p:nvSpPr>
        <p:spPr>
          <a:xfrm>
            <a:off x="10728655" y="6400800"/>
            <a:ext cx="731520" cy="274320"/>
          </a:xfrm>
          <a:prstGeom prst="rect">
            <a:avLst/>
          </a:prstGeom>
          <a:noFill/>
        </p:spPr>
        <p:txBody>
          <a:bodyPr wrap="square" lIns="0" rIns="0" tIns="0" bIns="0" anchor="t">
            <a:spAutoFit/>
          </a:bodyPr>
          <a:lstStyle/>
          <a:p>
            <a:pPr algn="r">
              <a:lnSpc>
                <a:spcPct val="110000"/>
              </a:lnSpc>
            </a:pPr>
            <a:r>
              <a:rPr sz="1000" b="0">
                <a:solidFill>
                  <a:srgbClr val="5B6B73"/>
                </a:solidFill>
                <a:latin typeface="Segoe UI"/>
              </a:rPr>
              <a:t>5/10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731520" y="502920"/>
            <a:ext cx="7315200" cy="320040"/>
          </a:xfrm>
          <a:prstGeom prst="rect">
            <a:avLst/>
          </a:prstGeom>
          <a:noFill/>
        </p:spPr>
        <p:txBody>
          <a:bodyPr wrap="square" lIns="0" rIns="0" tIns="0" bIns="0" anchor="t">
            <a:spAutoFit/>
          </a:bodyPr>
          <a:lstStyle/>
          <a:p>
            <a:pPr algn="l">
              <a:lnSpc>
                <a:spcPct val="110000"/>
              </a:lnSpc>
            </a:pPr>
            <a:r>
              <a:rPr sz="1300" b="1">
                <a:solidFill>
                  <a:srgbClr val="1E6F63"/>
                </a:solidFill>
                <a:latin typeface="Segoe UI"/>
              </a:rPr>
              <a:t>APPLIED AI (GOOGLE GEMINI)</a:t>
            </a:r>
          </a:p>
        </p:txBody>
      </p:sp>
      <p:sp>
        <p:nvSpPr>
          <p:cNvPr id="3" name="TextBox 2"/>
          <p:cNvSpPr txBox="1"/>
          <p:nvPr/>
        </p:nvSpPr>
        <p:spPr>
          <a:xfrm>
            <a:off x="731520" y="822960"/>
            <a:ext cx="10698480" cy="822960"/>
          </a:xfrm>
          <a:prstGeom prst="rect">
            <a:avLst/>
          </a:prstGeom>
          <a:noFill/>
        </p:spPr>
        <p:txBody>
          <a:bodyPr wrap="square" lIns="0" rIns="0" tIns="0" bIns="0" anchor="t">
            <a:spAutoFit/>
          </a:bodyPr>
          <a:lstStyle/>
          <a:p>
            <a:pPr algn="l">
              <a:lnSpc>
                <a:spcPct val="110000"/>
              </a:lnSpc>
            </a:pPr>
            <a:r>
              <a:rPr sz="3400" b="1">
                <a:solidFill>
                  <a:srgbClr val="0F2430"/>
                </a:solidFill>
                <a:latin typeface="Segoe UI"/>
              </a:rPr>
              <a:t>AI suggests, people decide</a:t>
            </a:r>
          </a:p>
        </p:txBody>
      </p:sp>
      <p:sp>
        <p:nvSpPr>
          <p:cNvPr id="4" name="Rounded Rectangle 3"/>
          <p:cNvSpPr/>
          <p:nvPr/>
        </p:nvSpPr>
        <p:spPr>
          <a:xfrm>
            <a:off x="731520" y="1965960"/>
            <a:ext cx="5486400" cy="841248"/>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075688"/>
            <a:ext cx="5029200" cy="32004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Request helper</a:t>
            </a:r>
          </a:p>
        </p:txBody>
      </p:sp>
      <p:sp>
        <p:nvSpPr>
          <p:cNvPr id="6" name="TextBox 5"/>
          <p:cNvSpPr txBox="1"/>
          <p:nvPr/>
        </p:nvSpPr>
        <p:spPr>
          <a:xfrm>
            <a:off x="1005840" y="2404872"/>
            <a:ext cx="5120640" cy="365760"/>
          </a:xfrm>
          <a:prstGeom prst="rect">
            <a:avLst/>
          </a:prstGeom>
          <a:noFill/>
        </p:spPr>
        <p:txBody>
          <a:bodyPr wrap="square" lIns="0" rIns="0" tIns="0" bIns="0" anchor="t">
            <a:spAutoFit/>
          </a:bodyPr>
          <a:lstStyle/>
          <a:p>
            <a:pPr algn="l">
              <a:lnSpc>
                <a:spcPct val="110000"/>
              </a:lnSpc>
            </a:pPr>
            <a:r>
              <a:rPr sz="1250" b="0">
                <a:solidFill>
                  <a:srgbClr val="5B6B73"/>
                </a:solidFill>
                <a:latin typeface="Segoe UI"/>
              </a:rPr>
              <a:t>Bangla / English / Banglish text or a damage photo → filled request form</a:t>
            </a:r>
          </a:p>
        </p:txBody>
      </p:sp>
      <p:sp>
        <p:nvSpPr>
          <p:cNvPr id="7" name="Rounded Rectangle 6"/>
          <p:cNvSpPr/>
          <p:nvPr/>
        </p:nvSpPr>
        <p:spPr>
          <a:xfrm>
            <a:off x="731520" y="2953512"/>
            <a:ext cx="5486400" cy="841248"/>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063240"/>
            <a:ext cx="5029200" cy="32004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Offer note</a:t>
            </a:r>
          </a:p>
        </p:txBody>
      </p:sp>
      <p:sp>
        <p:nvSpPr>
          <p:cNvPr id="9" name="TextBox 8"/>
          <p:cNvSpPr txBox="1"/>
          <p:nvPr/>
        </p:nvSpPr>
        <p:spPr>
          <a:xfrm>
            <a:off x="1005840" y="3392424"/>
            <a:ext cx="5120640" cy="365760"/>
          </a:xfrm>
          <a:prstGeom prst="rect">
            <a:avLst/>
          </a:prstGeom>
          <a:noFill/>
        </p:spPr>
        <p:txBody>
          <a:bodyPr wrap="square" lIns="0" rIns="0" tIns="0" bIns="0" anchor="t">
            <a:spAutoFit/>
          </a:bodyPr>
          <a:lstStyle/>
          <a:p>
            <a:pPr algn="l">
              <a:lnSpc>
                <a:spcPct val="110000"/>
              </a:lnSpc>
            </a:pPr>
            <a:r>
              <a:rPr sz="1250" b="0">
                <a:solidFill>
                  <a:srgbClr val="5B6B73"/>
                </a:solidFill>
                <a:latin typeface="Segoe UI"/>
              </a:rPr>
              <a:t>Writes the technician's offer message; a price guide from real past offers</a:t>
            </a:r>
          </a:p>
        </p:txBody>
      </p:sp>
      <p:sp>
        <p:nvSpPr>
          <p:cNvPr id="10" name="Rounded Rectangle 9"/>
          <p:cNvSpPr/>
          <p:nvPr/>
        </p:nvSpPr>
        <p:spPr>
          <a:xfrm>
            <a:off x="731520" y="3941064"/>
            <a:ext cx="5486400" cy="841248"/>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050792"/>
            <a:ext cx="5029200" cy="32004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Support chat</a:t>
            </a:r>
          </a:p>
        </p:txBody>
      </p:sp>
      <p:sp>
        <p:nvSpPr>
          <p:cNvPr id="12" name="TextBox 11"/>
          <p:cNvSpPr txBox="1"/>
          <p:nvPr/>
        </p:nvSpPr>
        <p:spPr>
          <a:xfrm>
            <a:off x="1005840" y="4379976"/>
            <a:ext cx="5120640" cy="365760"/>
          </a:xfrm>
          <a:prstGeom prst="rect">
            <a:avLst/>
          </a:prstGeom>
          <a:noFill/>
        </p:spPr>
        <p:txBody>
          <a:bodyPr wrap="square" lIns="0" rIns="0" tIns="0" bIns="0" anchor="t">
            <a:spAutoFit/>
          </a:bodyPr>
          <a:lstStyle/>
          <a:p>
            <a:pPr algn="l">
              <a:lnSpc>
                <a:spcPct val="110000"/>
              </a:lnSpc>
            </a:pPr>
            <a:r>
              <a:rPr sz="1250" b="0">
                <a:solidFill>
                  <a:srgbClr val="5B6B73"/>
                </a:solidFill>
                <a:latin typeface="Segoe UI"/>
              </a:rPr>
              <a:t>Answers questions from the live service catalogue</a:t>
            </a:r>
          </a:p>
        </p:txBody>
      </p:sp>
      <p:sp>
        <p:nvSpPr>
          <p:cNvPr id="13" name="Rounded Rectangle 12"/>
          <p:cNvSpPr/>
          <p:nvPr/>
        </p:nvSpPr>
        <p:spPr>
          <a:xfrm>
            <a:off x="731520" y="4928616"/>
            <a:ext cx="5486400" cy="841248"/>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038344"/>
            <a:ext cx="5029200" cy="320040"/>
          </a:xfrm>
          <a:prstGeom prst="rect">
            <a:avLst/>
          </a:prstGeom>
          <a:noFill/>
        </p:spPr>
        <p:txBody>
          <a:bodyPr wrap="square" lIns="0" rIns="0" tIns="0" bIns="0" anchor="t">
            <a:spAutoFit/>
          </a:bodyPr>
          <a:lstStyle/>
          <a:p>
            <a:pPr algn="l">
              <a:lnSpc>
                <a:spcPct val="110000"/>
              </a:lnSpc>
            </a:pPr>
            <a:r>
              <a:rPr sz="1700" b="1">
                <a:solidFill>
                  <a:srgbClr val="0F2430"/>
                </a:solidFill>
                <a:latin typeface="Segoe UI"/>
              </a:rPr>
              <a:t>Report summary</a:t>
            </a:r>
          </a:p>
        </p:txBody>
      </p:sp>
      <p:sp>
        <p:nvSpPr>
          <p:cNvPr id="15" name="TextBox 14"/>
          <p:cNvSpPr txBox="1"/>
          <p:nvPr/>
        </p:nvSpPr>
        <p:spPr>
          <a:xfrm>
            <a:off x="1005840" y="5367528"/>
            <a:ext cx="5120640" cy="365760"/>
          </a:xfrm>
          <a:prstGeom prst="rect">
            <a:avLst/>
          </a:prstGeom>
          <a:noFill/>
        </p:spPr>
        <p:txBody>
          <a:bodyPr wrap="square" lIns="0" rIns="0" tIns="0" bIns="0" anchor="t">
            <a:spAutoFit/>
          </a:bodyPr>
          <a:lstStyle/>
          <a:p>
            <a:pPr algn="l">
              <a:lnSpc>
                <a:spcPct val="110000"/>
              </a:lnSpc>
            </a:pPr>
            <a:r>
              <a:rPr sz="1250" b="0">
                <a:solidFill>
                  <a:srgbClr val="5B6B73"/>
                </a:solidFill>
                <a:latin typeface="Segoe UI"/>
              </a:rPr>
              <a:t>Headline + actions for admins from the period's figures</a:t>
            </a:r>
          </a:p>
        </p:txBody>
      </p:sp>
      <p:sp>
        <p:nvSpPr>
          <p:cNvPr id="16" name="Rounded Rectangle 15"/>
          <p:cNvSpPr/>
          <p:nvPr/>
        </p:nvSpPr>
        <p:spPr>
          <a:xfrm>
            <a:off x="6583680" y="1965960"/>
            <a:ext cx="4846320" cy="3803904"/>
          </a:xfrm>
          <a:prstGeom prst="roundRect">
            <a:avLst>
              <a:gd name="adj" fmla="val 8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3720" y="2194560"/>
            <a:ext cx="4297680" cy="365760"/>
          </a:xfrm>
          <a:prstGeom prst="rect">
            <a:avLst/>
          </a:prstGeom>
          <a:noFill/>
        </p:spPr>
        <p:txBody>
          <a:bodyPr wrap="square" lIns="0" rIns="0" tIns="0" bIns="0" anchor="t">
            <a:spAutoFit/>
          </a:bodyPr>
          <a:lstStyle/>
          <a:p>
            <a:pPr algn="l">
              <a:lnSpc>
                <a:spcPct val="110000"/>
              </a:lnSpc>
            </a:pPr>
            <a:r>
              <a:rPr sz="1900" b="1">
                <a:solidFill>
                  <a:srgbClr val="F2B138"/>
                </a:solidFill>
                <a:latin typeface="Segoe UI"/>
              </a:rPr>
              <a:t>Guardrails</a:t>
            </a:r>
          </a:p>
        </p:txBody>
      </p:sp>
      <p:sp>
        <p:nvSpPr>
          <p:cNvPr id="18" name="TextBox 17"/>
          <p:cNvSpPr txBox="1"/>
          <p:nvPr/>
        </p:nvSpPr>
        <p:spPr>
          <a:xfrm>
            <a:off x="6903720" y="2697480"/>
            <a:ext cx="4297680" cy="3017520"/>
          </a:xfrm>
          <a:prstGeom prst="rect">
            <a:avLst/>
          </a:prstGeom>
          <a:noFill/>
        </p:spPr>
        <p:txBody>
          <a:bodyPr wrap="square" lIns="0" rIns="0" tIns="0" bIns="0" anchor="t">
            <a:spAutoFit/>
          </a:bodyPr>
          <a:lstStyle/>
          <a:p>
            <a:pPr algn="l">
              <a:lnSpc>
                <a:spcPct val="145000"/>
              </a:lnSpc>
            </a:pPr>
            <a:r>
              <a:rPr sz="1450" b="0">
                <a:solidFill>
                  <a:srgbClr val="F2B138"/>
                </a:solidFill>
                <a:latin typeface="Segoe UI"/>
              </a:rPr>
              <a:t>✓  </a:t>
            </a:r>
            <a:r>
              <a:rPr sz="1450" b="0">
                <a:solidFill>
                  <a:srgbClr val="FFFFFF"/>
                </a:solidFill>
                <a:latin typeface="Segoe UI"/>
              </a:rPr>
              <a:t>Never sets a price</a:t>
            </a:r>
          </a:p>
          <a:p>
            <a:pPr algn="l">
              <a:lnSpc>
                <a:spcPct val="145000"/>
              </a:lnSpc>
            </a:pPr>
            <a:r>
              <a:rPr sz="1450" b="0">
                <a:solidFill>
                  <a:srgbClr val="F2B138"/>
                </a:solidFill>
                <a:latin typeface="Segoe UI"/>
              </a:rPr>
              <a:t>✓  </a:t>
            </a:r>
            <a:r>
              <a:rPr sz="1450" b="0">
                <a:solidFill>
                  <a:srgbClr val="FFFFFF"/>
                </a:solidFill>
                <a:latin typeface="Segoe UI"/>
              </a:rPr>
              <a:t>Output locked to the live catalogue, re-checked on server</a:t>
            </a:r>
          </a:p>
          <a:p>
            <a:pPr algn="l">
              <a:lnSpc>
                <a:spcPct val="145000"/>
              </a:lnSpc>
            </a:pPr>
            <a:r>
              <a:rPr sz="1450" b="0">
                <a:solidFill>
                  <a:srgbClr val="F2B138"/>
                </a:solidFill>
                <a:latin typeface="Segoe UI"/>
              </a:rPr>
              <a:t>✓  </a:t>
            </a:r>
            <a:r>
              <a:rPr sz="1450" b="0">
                <a:solidFill>
                  <a:srgbClr val="FFFFFF"/>
                </a:solidFill>
                <a:latin typeface="Segoe UI"/>
              </a:rPr>
              <a:t>Every number in a summary verified against real data</a:t>
            </a:r>
          </a:p>
          <a:p>
            <a:pPr algn="l">
              <a:lnSpc>
                <a:spcPct val="145000"/>
              </a:lnSpc>
            </a:pPr>
            <a:r>
              <a:rPr sz="1450" b="0">
                <a:solidFill>
                  <a:srgbClr val="F2B138"/>
                </a:solidFill>
                <a:latin typeface="Segoe UI"/>
              </a:rPr>
              <a:t>✓  </a:t>
            </a:r>
            <a:r>
              <a:rPr sz="1450" b="0">
                <a:solidFill>
                  <a:srgbClr val="FFFFFF"/>
                </a:solidFill>
                <a:latin typeface="Segoe UI"/>
              </a:rPr>
              <a:t>No names, emails or card numbers sent to the model</a:t>
            </a:r>
          </a:p>
          <a:p>
            <a:pPr algn="l">
              <a:lnSpc>
                <a:spcPct val="145000"/>
              </a:lnSpc>
            </a:pPr>
            <a:r>
              <a:rPr sz="1450" b="0">
                <a:solidFill>
                  <a:srgbClr val="F2B138"/>
                </a:solidFill>
                <a:latin typeface="Segoe UI"/>
              </a:rPr>
              <a:t>✓  </a:t>
            </a:r>
            <a:r>
              <a:rPr sz="1450" b="0">
                <a:solidFill>
                  <a:srgbClr val="FFFFFF"/>
                </a:solidFill>
                <a:latin typeface="Segoe UI"/>
              </a:rPr>
              <a:t>Per-user and daily site-wide limits</a:t>
            </a:r>
          </a:p>
        </p:txBody>
      </p:sp>
      <p:sp>
        <p:nvSpPr>
          <p:cNvPr id="19" name="TextBox 18"/>
          <p:cNvSpPr txBox="1"/>
          <p:nvPr/>
        </p:nvSpPr>
        <p:spPr>
          <a:xfrm>
            <a:off x="731520" y="6400800"/>
            <a:ext cx="5486400" cy="274320"/>
          </a:xfrm>
          <a:prstGeom prst="rect">
            <a:avLst/>
          </a:prstGeom>
          <a:noFill/>
        </p:spPr>
        <p:txBody>
          <a:bodyPr wrap="square" lIns="0" rIns="0" tIns="0" bIns="0" anchor="t">
            <a:spAutoFit/>
          </a:bodyPr>
          <a:lstStyle/>
          <a:p>
            <a:pPr algn="l">
              <a:lnSpc>
                <a:spcPct val="110000"/>
              </a:lnSpc>
            </a:pPr>
            <a:r>
              <a:rPr sz="1000" b="0">
                <a:solidFill>
                  <a:srgbClr val="5B6B73"/>
                </a:solidFill>
                <a:latin typeface="Segoe UI"/>
              </a:rPr>
              <a:t>Sarabo  ·  Jahid Hasan  ·  Metropolitan University</a:t>
            </a:r>
          </a:p>
        </p:txBody>
      </p:sp>
      <p:sp>
        <p:nvSpPr>
          <p:cNvPr id="20" name="TextBox 19"/>
          <p:cNvSpPr txBox="1"/>
          <p:nvPr/>
        </p:nvSpPr>
        <p:spPr>
          <a:xfrm>
            <a:off x="10728655" y="6400800"/>
            <a:ext cx="731520" cy="274320"/>
          </a:xfrm>
          <a:prstGeom prst="rect">
            <a:avLst/>
          </a:prstGeom>
          <a:noFill/>
        </p:spPr>
        <p:txBody>
          <a:bodyPr wrap="square" lIns="0" rIns="0" tIns="0" bIns="0" anchor="t">
            <a:spAutoFit/>
          </a:bodyPr>
          <a:lstStyle/>
          <a:p>
            <a:pPr algn="r">
              <a:lnSpc>
                <a:spcPct val="110000"/>
              </a:lnSpc>
            </a:pPr>
            <a:r>
              <a:rPr sz="1000" b="0">
                <a:solidFill>
                  <a:srgbClr val="5B6B73"/>
                </a:solidFill>
                <a:latin typeface="Segoe UI"/>
              </a:rPr>
              <a:t>6/10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731520" y="502920"/>
            <a:ext cx="7315200" cy="320040"/>
          </a:xfrm>
          <a:prstGeom prst="rect">
            <a:avLst/>
          </a:prstGeom>
          <a:noFill/>
        </p:spPr>
        <p:txBody>
          <a:bodyPr wrap="square" lIns="0" rIns="0" tIns="0" bIns="0" anchor="t">
            <a:spAutoFit/>
          </a:bodyPr>
          <a:lstStyle/>
          <a:p>
            <a:pPr algn="l">
              <a:lnSpc>
                <a:spcPct val="110000"/>
              </a:lnSpc>
            </a:pPr>
            <a:r>
              <a:rPr sz="1300" b="1">
                <a:solidFill>
                  <a:srgbClr val="1E6F63"/>
                </a:solidFill>
                <a:latin typeface="Segoe UI"/>
              </a:rPr>
              <a:t>ARCHITECTURE</a:t>
            </a:r>
          </a:p>
        </p:txBody>
      </p:sp>
      <p:sp>
        <p:nvSpPr>
          <p:cNvPr id="3" name="TextBox 2"/>
          <p:cNvSpPr txBox="1"/>
          <p:nvPr/>
        </p:nvSpPr>
        <p:spPr>
          <a:xfrm>
            <a:off x="731520" y="822960"/>
            <a:ext cx="10698480" cy="822960"/>
          </a:xfrm>
          <a:prstGeom prst="rect">
            <a:avLst/>
          </a:prstGeom>
          <a:noFill/>
        </p:spPr>
        <p:txBody>
          <a:bodyPr wrap="square" lIns="0" rIns="0" tIns="0" bIns="0" anchor="t">
            <a:spAutoFit/>
          </a:bodyPr>
          <a:lstStyle/>
          <a:p>
            <a:pPr algn="l">
              <a:lnSpc>
                <a:spcPct val="110000"/>
              </a:lnSpc>
            </a:pPr>
            <a:r>
              <a:rPr sz="3400" b="1">
                <a:solidFill>
                  <a:srgbClr val="0F2430"/>
                </a:solidFill>
                <a:latin typeface="Segoe UI"/>
              </a:rPr>
              <a:t>How it is built</a:t>
            </a:r>
          </a:p>
        </p:txBody>
      </p:sp>
      <p:sp>
        <p:nvSpPr>
          <p:cNvPr id="4" name="Rounded Rectangle 3"/>
          <p:cNvSpPr/>
          <p:nvPr/>
        </p:nvSpPr>
        <p:spPr>
          <a:xfrm>
            <a:off x="731520" y="2377440"/>
            <a:ext cx="2651760" cy="1005840"/>
          </a:xfrm>
          <a:prstGeom prst="roundRect">
            <a:avLst>
              <a:gd name="adj" fmla="val 8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87168"/>
            <a:ext cx="2651760" cy="365760"/>
          </a:xfrm>
          <a:prstGeom prst="rect">
            <a:avLst/>
          </a:prstGeom>
          <a:noFill/>
        </p:spPr>
        <p:txBody>
          <a:bodyPr wrap="square" lIns="0" rIns="0" tIns="0" bIns="0" anchor="t">
            <a:spAutoFit/>
          </a:bodyPr>
          <a:lstStyle/>
          <a:p>
            <a:pPr algn="ctr">
              <a:lnSpc>
                <a:spcPct val="110000"/>
              </a:lnSpc>
            </a:pPr>
            <a:r>
              <a:rPr sz="1500" b="1">
                <a:solidFill>
                  <a:srgbClr val="FFFFFF"/>
                </a:solidFill>
                <a:latin typeface="Segoe UI"/>
              </a:rPr>
              <a:t>React 19 client</a:t>
            </a:r>
          </a:p>
        </p:txBody>
      </p:sp>
      <p:sp>
        <p:nvSpPr>
          <p:cNvPr id="6" name="TextBox 5"/>
          <p:cNvSpPr txBox="1"/>
          <p:nvPr/>
        </p:nvSpPr>
        <p:spPr>
          <a:xfrm>
            <a:off x="731520" y="2834640"/>
            <a:ext cx="2651760" cy="457200"/>
          </a:xfrm>
          <a:prstGeom prst="rect">
            <a:avLst/>
          </a:prstGeom>
          <a:noFill/>
        </p:spPr>
        <p:txBody>
          <a:bodyPr wrap="square" lIns="0" rIns="0" tIns="0" bIns="0" anchor="t">
            <a:spAutoFit/>
          </a:bodyPr>
          <a:lstStyle/>
          <a:p>
            <a:pPr algn="ctr">
              <a:lnSpc>
                <a:spcPct val="110000"/>
              </a:lnSpc>
            </a:pPr>
            <a:r>
              <a:rPr sz="1150" b="0">
                <a:solidFill>
                  <a:srgbClr val="C9D4D8"/>
                </a:solidFill>
                <a:latin typeface="Segoe UI"/>
              </a:rPr>
              <a:t>Vite · Tailwind · TanStack Query</a:t>
            </a:r>
          </a:p>
        </p:txBody>
      </p:sp>
      <p:sp>
        <p:nvSpPr>
          <p:cNvPr id="7" name="Rounded Rectangle 6"/>
          <p:cNvSpPr/>
          <p:nvPr/>
        </p:nvSpPr>
        <p:spPr>
          <a:xfrm>
            <a:off x="4754880" y="2377440"/>
            <a:ext cx="2651760" cy="1005840"/>
          </a:xfrm>
          <a:prstGeom prst="roundRect">
            <a:avLst>
              <a:gd name="adj" fmla="val 8000"/>
            </a:avLst>
          </a:prstGeom>
          <a:solidFill>
            <a:srgbClr val="0F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2487168"/>
            <a:ext cx="2651760" cy="365760"/>
          </a:xfrm>
          <a:prstGeom prst="rect">
            <a:avLst/>
          </a:prstGeom>
          <a:noFill/>
        </p:spPr>
        <p:txBody>
          <a:bodyPr wrap="square" lIns="0" rIns="0" tIns="0" bIns="0" anchor="t">
            <a:spAutoFit/>
          </a:bodyPr>
          <a:lstStyle/>
          <a:p>
            <a:pPr algn="ctr">
              <a:lnSpc>
                <a:spcPct val="110000"/>
              </a:lnSpc>
            </a:pPr>
            <a:r>
              <a:rPr sz="1500" b="1">
                <a:solidFill>
                  <a:srgbClr val="FFFFFF"/>
                </a:solidFill>
                <a:latin typeface="Segoe UI"/>
              </a:rPr>
              <a:t>Express 5 API</a:t>
            </a:r>
          </a:p>
        </p:txBody>
      </p:sp>
      <p:sp>
        <p:nvSpPr>
          <p:cNvPr id="9" name="TextBox 8"/>
          <p:cNvSpPr txBox="1"/>
          <p:nvPr/>
        </p:nvSpPr>
        <p:spPr>
          <a:xfrm>
            <a:off x="4754880" y="2834640"/>
            <a:ext cx="2651760" cy="457200"/>
          </a:xfrm>
          <a:prstGeom prst="rect">
            <a:avLst/>
          </a:prstGeom>
          <a:noFill/>
        </p:spPr>
        <p:txBody>
          <a:bodyPr wrap="square" lIns="0" rIns="0" tIns="0" bIns="0" anchor="t">
            <a:spAutoFit/>
          </a:bodyPr>
          <a:lstStyle/>
          <a:p>
            <a:pPr algn="ctr">
              <a:lnSpc>
                <a:spcPct val="110000"/>
              </a:lnSpc>
            </a:pPr>
            <a:r>
              <a:rPr sz="1150" b="0">
                <a:solidFill>
                  <a:srgbClr val="C9D4D8"/>
                </a:solidFill>
                <a:latin typeface="Segoe UI"/>
              </a:rPr>
              <a:t>Node.js on Vercel · ~100 endpoints</a:t>
            </a:r>
          </a:p>
        </p:txBody>
      </p:sp>
      <p:sp>
        <p:nvSpPr>
          <p:cNvPr id="10" name="Rounded Rectangle 9"/>
          <p:cNvSpPr/>
          <p:nvPr/>
        </p:nvSpPr>
        <p:spPr>
          <a:xfrm>
            <a:off x="8778240" y="2377440"/>
            <a:ext cx="2651760" cy="1005840"/>
          </a:xfrm>
          <a:prstGeom prst="roundRect">
            <a:avLst>
              <a:gd name="adj" fmla="val 8000"/>
            </a:avLst>
          </a:prstGeom>
          <a:solidFill>
            <a:srgbClr val="1E6F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0" y="2487168"/>
            <a:ext cx="2651760" cy="365760"/>
          </a:xfrm>
          <a:prstGeom prst="rect">
            <a:avLst/>
          </a:prstGeom>
          <a:noFill/>
        </p:spPr>
        <p:txBody>
          <a:bodyPr wrap="square" lIns="0" rIns="0" tIns="0" bIns="0" anchor="t">
            <a:spAutoFit/>
          </a:bodyPr>
          <a:lstStyle/>
          <a:p>
            <a:pPr algn="ctr">
              <a:lnSpc>
                <a:spcPct val="110000"/>
              </a:lnSpc>
            </a:pPr>
            <a:r>
              <a:rPr sz="1500" b="1">
                <a:solidFill>
                  <a:srgbClr val="FFFFFF"/>
                </a:solidFill>
                <a:latin typeface="Segoe UI"/>
              </a:rPr>
              <a:t>MongoDB Atlas</a:t>
            </a:r>
          </a:p>
        </p:txBody>
      </p:sp>
      <p:sp>
        <p:nvSpPr>
          <p:cNvPr id="12" name="TextBox 11"/>
          <p:cNvSpPr txBox="1"/>
          <p:nvPr/>
        </p:nvSpPr>
        <p:spPr>
          <a:xfrm>
            <a:off x="8778240" y="2834640"/>
            <a:ext cx="2651760" cy="457200"/>
          </a:xfrm>
          <a:prstGeom prst="rect">
            <a:avLst/>
          </a:prstGeom>
          <a:noFill/>
        </p:spPr>
        <p:txBody>
          <a:bodyPr wrap="square" lIns="0" rIns="0" tIns="0" bIns="0" anchor="t">
            <a:spAutoFit/>
          </a:bodyPr>
          <a:lstStyle/>
          <a:p>
            <a:pPr algn="ctr">
              <a:lnSpc>
                <a:spcPct val="110000"/>
              </a:lnSpc>
            </a:pPr>
            <a:r>
              <a:rPr sz="1150" b="0">
                <a:solidFill>
                  <a:srgbClr val="C9D4D8"/>
                </a:solidFill>
                <a:latin typeface="Segoe UI"/>
              </a:rPr>
              <a:t>19 collections · transactions</a:t>
            </a:r>
          </a:p>
        </p:txBody>
      </p:sp>
      <p:cxnSp>
        <p:nvCxnSpPr>
          <p:cNvPr id="13" name="Connector 12"/>
          <p:cNvCxnSpPr/>
          <p:nvPr/>
        </p:nvCxnSpPr>
        <p:spPr>
          <a:xfrm>
            <a:off x="3383280" y="2880360"/>
            <a:ext cx="1371600" cy="0"/>
          </a:xfrm>
          <a:prstGeom prst="line">
            <a:avLst/>
          </a:prstGeom>
          <a:ln w="22225">
            <a:solidFill>
              <a:srgbClr val="5B6B73"/>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406640" y="2880360"/>
            <a:ext cx="1371600" cy="0"/>
          </a:xfrm>
          <a:prstGeom prst="line">
            <a:avLst/>
          </a:prstGeom>
          <a:ln w="22225">
            <a:solidFill>
              <a:srgbClr val="5B6B73"/>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1520" y="4343400"/>
            <a:ext cx="1627632" cy="9144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53128"/>
            <a:ext cx="1627632" cy="365760"/>
          </a:xfrm>
          <a:prstGeom prst="rect">
            <a:avLst/>
          </a:prstGeom>
          <a:noFill/>
        </p:spPr>
        <p:txBody>
          <a:bodyPr wrap="square" lIns="0" rIns="0" tIns="0" bIns="0" anchor="t">
            <a:spAutoFit/>
          </a:bodyPr>
          <a:lstStyle/>
          <a:p>
            <a:pPr algn="ctr">
              <a:lnSpc>
                <a:spcPct val="110000"/>
              </a:lnSpc>
            </a:pPr>
            <a:r>
              <a:rPr sz="1500" b="1">
                <a:solidFill>
                  <a:srgbClr val="0F2430"/>
                </a:solidFill>
                <a:latin typeface="Segoe UI"/>
              </a:rPr>
              <a:t>Firebase</a:t>
            </a:r>
          </a:p>
        </p:txBody>
      </p:sp>
      <p:sp>
        <p:nvSpPr>
          <p:cNvPr id="17" name="TextBox 16"/>
          <p:cNvSpPr txBox="1"/>
          <p:nvPr/>
        </p:nvSpPr>
        <p:spPr>
          <a:xfrm>
            <a:off x="731520" y="4800600"/>
            <a:ext cx="1627632" cy="457200"/>
          </a:xfrm>
          <a:prstGeom prst="rect">
            <a:avLst/>
          </a:prstGeom>
          <a:noFill/>
        </p:spPr>
        <p:txBody>
          <a:bodyPr wrap="square" lIns="0" rIns="0" tIns="0" bIns="0" anchor="t">
            <a:spAutoFit/>
          </a:bodyPr>
          <a:lstStyle/>
          <a:p>
            <a:pPr algn="ctr">
              <a:lnSpc>
                <a:spcPct val="110000"/>
              </a:lnSpc>
            </a:pPr>
            <a:r>
              <a:rPr sz="1150" b="0">
                <a:solidFill>
                  <a:srgbClr val="5B6B73"/>
                </a:solidFill>
                <a:latin typeface="Segoe UI"/>
              </a:rPr>
              <a:t>Sign-in</a:t>
            </a:r>
          </a:p>
        </p:txBody>
      </p:sp>
      <p:cxnSp>
        <p:nvCxnSpPr>
          <p:cNvPr id="18" name="Connector 17"/>
          <p:cNvCxnSpPr/>
          <p:nvPr/>
        </p:nvCxnSpPr>
        <p:spPr>
          <a:xfrm flipH="1">
            <a:off x="1545336" y="3383280"/>
            <a:ext cx="4535424" cy="960120"/>
          </a:xfrm>
          <a:prstGeom prst="line">
            <a:avLst/>
          </a:prstGeom>
          <a:ln w="15875">
            <a:solidFill>
              <a:srgbClr val="C9D4D8"/>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542032" y="4343400"/>
            <a:ext cx="1627632" cy="9144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42032" y="4453128"/>
            <a:ext cx="1627632" cy="365760"/>
          </a:xfrm>
          <a:prstGeom prst="rect">
            <a:avLst/>
          </a:prstGeom>
          <a:noFill/>
        </p:spPr>
        <p:txBody>
          <a:bodyPr wrap="square" lIns="0" rIns="0" tIns="0" bIns="0" anchor="t">
            <a:spAutoFit/>
          </a:bodyPr>
          <a:lstStyle/>
          <a:p>
            <a:pPr algn="ctr">
              <a:lnSpc>
                <a:spcPct val="110000"/>
              </a:lnSpc>
            </a:pPr>
            <a:r>
              <a:rPr sz="1500" b="1">
                <a:solidFill>
                  <a:srgbClr val="0F2430"/>
                </a:solidFill>
                <a:latin typeface="Segoe UI"/>
              </a:rPr>
              <a:t>Stripe</a:t>
            </a:r>
          </a:p>
        </p:txBody>
      </p:sp>
      <p:sp>
        <p:nvSpPr>
          <p:cNvPr id="21" name="TextBox 20"/>
          <p:cNvSpPr txBox="1"/>
          <p:nvPr/>
        </p:nvSpPr>
        <p:spPr>
          <a:xfrm>
            <a:off x="2542032" y="4800600"/>
            <a:ext cx="1627632" cy="457200"/>
          </a:xfrm>
          <a:prstGeom prst="rect">
            <a:avLst/>
          </a:prstGeom>
          <a:noFill/>
        </p:spPr>
        <p:txBody>
          <a:bodyPr wrap="square" lIns="0" rIns="0" tIns="0" bIns="0" anchor="t">
            <a:spAutoFit/>
          </a:bodyPr>
          <a:lstStyle/>
          <a:p>
            <a:pPr algn="ctr">
              <a:lnSpc>
                <a:spcPct val="110000"/>
              </a:lnSpc>
            </a:pPr>
            <a:r>
              <a:rPr sz="1150" b="0">
                <a:solidFill>
                  <a:srgbClr val="5B6B73"/>
                </a:solidFill>
                <a:latin typeface="Segoe UI"/>
              </a:rPr>
              <a:t>Payments, refunds</a:t>
            </a:r>
          </a:p>
        </p:txBody>
      </p:sp>
      <p:cxnSp>
        <p:nvCxnSpPr>
          <p:cNvPr id="22" name="Connector 21"/>
          <p:cNvCxnSpPr/>
          <p:nvPr/>
        </p:nvCxnSpPr>
        <p:spPr>
          <a:xfrm flipH="1">
            <a:off x="3355848" y="3383280"/>
            <a:ext cx="2724912" cy="960120"/>
          </a:xfrm>
          <a:prstGeom prst="line">
            <a:avLst/>
          </a:prstGeom>
          <a:ln w="15875">
            <a:solidFill>
              <a:srgbClr val="C9D4D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52544" y="4343400"/>
            <a:ext cx="1627632" cy="9144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52544" y="4453128"/>
            <a:ext cx="1627632" cy="365760"/>
          </a:xfrm>
          <a:prstGeom prst="rect">
            <a:avLst/>
          </a:prstGeom>
          <a:noFill/>
        </p:spPr>
        <p:txBody>
          <a:bodyPr wrap="square" lIns="0" rIns="0" tIns="0" bIns="0" anchor="t">
            <a:spAutoFit/>
          </a:bodyPr>
          <a:lstStyle/>
          <a:p>
            <a:pPr algn="ctr">
              <a:lnSpc>
                <a:spcPct val="110000"/>
              </a:lnSpc>
            </a:pPr>
            <a:r>
              <a:rPr sz="1500" b="1">
                <a:solidFill>
                  <a:srgbClr val="0F2430"/>
                </a:solidFill>
                <a:latin typeface="Segoe UI"/>
              </a:rPr>
              <a:t>Supabase</a:t>
            </a:r>
          </a:p>
        </p:txBody>
      </p:sp>
      <p:sp>
        <p:nvSpPr>
          <p:cNvPr id="25" name="TextBox 24"/>
          <p:cNvSpPr txBox="1"/>
          <p:nvPr/>
        </p:nvSpPr>
        <p:spPr>
          <a:xfrm>
            <a:off x="4352544" y="4800600"/>
            <a:ext cx="1627632" cy="457200"/>
          </a:xfrm>
          <a:prstGeom prst="rect">
            <a:avLst/>
          </a:prstGeom>
          <a:noFill/>
        </p:spPr>
        <p:txBody>
          <a:bodyPr wrap="square" lIns="0" rIns="0" tIns="0" bIns="0" anchor="t">
            <a:spAutoFit/>
          </a:bodyPr>
          <a:lstStyle/>
          <a:p>
            <a:pPr algn="ctr">
              <a:lnSpc>
                <a:spcPct val="110000"/>
              </a:lnSpc>
            </a:pPr>
            <a:r>
              <a:rPr sz="1150" b="0">
                <a:solidFill>
                  <a:srgbClr val="5B6B73"/>
                </a:solidFill>
                <a:latin typeface="Segoe UI"/>
              </a:rPr>
              <a:t>Private photos</a:t>
            </a:r>
          </a:p>
        </p:txBody>
      </p:sp>
      <p:cxnSp>
        <p:nvCxnSpPr>
          <p:cNvPr id="26" name="Connector 25"/>
          <p:cNvCxnSpPr/>
          <p:nvPr/>
        </p:nvCxnSpPr>
        <p:spPr>
          <a:xfrm flipH="1">
            <a:off x="5166360" y="3383280"/>
            <a:ext cx="914400" cy="960120"/>
          </a:xfrm>
          <a:prstGeom prst="line">
            <a:avLst/>
          </a:prstGeom>
          <a:ln w="15875">
            <a:solidFill>
              <a:srgbClr val="C9D4D8"/>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63055" y="4343400"/>
            <a:ext cx="1627632" cy="9144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63055" y="4453128"/>
            <a:ext cx="1627632" cy="365760"/>
          </a:xfrm>
          <a:prstGeom prst="rect">
            <a:avLst/>
          </a:prstGeom>
          <a:noFill/>
        </p:spPr>
        <p:txBody>
          <a:bodyPr wrap="square" lIns="0" rIns="0" tIns="0" bIns="0" anchor="t">
            <a:spAutoFit/>
          </a:bodyPr>
          <a:lstStyle/>
          <a:p>
            <a:pPr algn="ctr">
              <a:lnSpc>
                <a:spcPct val="110000"/>
              </a:lnSpc>
            </a:pPr>
            <a:r>
              <a:rPr sz="1500" b="1">
                <a:solidFill>
                  <a:srgbClr val="0F2430"/>
                </a:solidFill>
                <a:latin typeface="Segoe UI"/>
              </a:rPr>
              <a:t>Gemini</a:t>
            </a:r>
          </a:p>
        </p:txBody>
      </p:sp>
      <p:sp>
        <p:nvSpPr>
          <p:cNvPr id="29" name="TextBox 28"/>
          <p:cNvSpPr txBox="1"/>
          <p:nvPr/>
        </p:nvSpPr>
        <p:spPr>
          <a:xfrm>
            <a:off x="6163055" y="4800600"/>
            <a:ext cx="1627632" cy="457200"/>
          </a:xfrm>
          <a:prstGeom prst="rect">
            <a:avLst/>
          </a:prstGeom>
          <a:noFill/>
        </p:spPr>
        <p:txBody>
          <a:bodyPr wrap="square" lIns="0" rIns="0" tIns="0" bIns="0" anchor="t">
            <a:spAutoFit/>
          </a:bodyPr>
          <a:lstStyle/>
          <a:p>
            <a:pPr algn="ctr">
              <a:lnSpc>
                <a:spcPct val="110000"/>
              </a:lnSpc>
            </a:pPr>
            <a:r>
              <a:rPr sz="1150" b="0">
                <a:solidFill>
                  <a:srgbClr val="5B6B73"/>
                </a:solidFill>
                <a:latin typeface="Segoe UI"/>
              </a:rPr>
              <a:t>AI features</a:t>
            </a:r>
          </a:p>
        </p:txBody>
      </p:sp>
      <p:cxnSp>
        <p:nvCxnSpPr>
          <p:cNvPr id="30" name="Connector 29"/>
          <p:cNvCxnSpPr/>
          <p:nvPr/>
        </p:nvCxnSpPr>
        <p:spPr>
          <a:xfrm>
            <a:off x="6080760" y="3383280"/>
            <a:ext cx="896111" cy="960120"/>
          </a:xfrm>
          <a:prstGeom prst="line">
            <a:avLst/>
          </a:prstGeom>
          <a:ln w="15875">
            <a:solidFill>
              <a:srgbClr val="C9D4D8"/>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7973568" y="4343400"/>
            <a:ext cx="1627632" cy="9144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73568" y="4453128"/>
            <a:ext cx="1627632" cy="365760"/>
          </a:xfrm>
          <a:prstGeom prst="rect">
            <a:avLst/>
          </a:prstGeom>
          <a:noFill/>
        </p:spPr>
        <p:txBody>
          <a:bodyPr wrap="square" lIns="0" rIns="0" tIns="0" bIns="0" anchor="t">
            <a:spAutoFit/>
          </a:bodyPr>
          <a:lstStyle/>
          <a:p>
            <a:pPr algn="ctr">
              <a:lnSpc>
                <a:spcPct val="110000"/>
              </a:lnSpc>
            </a:pPr>
            <a:r>
              <a:rPr sz="1500" b="1">
                <a:solidFill>
                  <a:srgbClr val="0F2430"/>
                </a:solidFill>
                <a:latin typeface="Segoe UI"/>
              </a:rPr>
              <a:t>Gmail</a:t>
            </a:r>
          </a:p>
        </p:txBody>
      </p:sp>
      <p:sp>
        <p:nvSpPr>
          <p:cNvPr id="33" name="TextBox 32"/>
          <p:cNvSpPr txBox="1"/>
          <p:nvPr/>
        </p:nvSpPr>
        <p:spPr>
          <a:xfrm>
            <a:off x="7973568" y="4800600"/>
            <a:ext cx="1627632" cy="457200"/>
          </a:xfrm>
          <a:prstGeom prst="rect">
            <a:avLst/>
          </a:prstGeom>
          <a:noFill/>
        </p:spPr>
        <p:txBody>
          <a:bodyPr wrap="square" lIns="0" rIns="0" tIns="0" bIns="0" anchor="t">
            <a:spAutoFit/>
          </a:bodyPr>
          <a:lstStyle/>
          <a:p>
            <a:pPr algn="ctr">
              <a:lnSpc>
                <a:spcPct val="110000"/>
              </a:lnSpc>
            </a:pPr>
            <a:r>
              <a:rPr sz="1150" b="0">
                <a:solidFill>
                  <a:srgbClr val="5B6B73"/>
                </a:solidFill>
                <a:latin typeface="Segoe UI"/>
              </a:rPr>
              <a:t>Email</a:t>
            </a:r>
          </a:p>
        </p:txBody>
      </p:sp>
      <p:cxnSp>
        <p:nvCxnSpPr>
          <p:cNvPr id="34" name="Connector 33"/>
          <p:cNvCxnSpPr/>
          <p:nvPr/>
        </p:nvCxnSpPr>
        <p:spPr>
          <a:xfrm>
            <a:off x="6080760" y="3383280"/>
            <a:ext cx="2706624" cy="960120"/>
          </a:xfrm>
          <a:prstGeom prst="line">
            <a:avLst/>
          </a:prstGeom>
          <a:ln w="15875">
            <a:solidFill>
              <a:srgbClr val="C9D4D8"/>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784080" y="4343400"/>
            <a:ext cx="1627632" cy="9144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84080" y="4453128"/>
            <a:ext cx="1627632" cy="365760"/>
          </a:xfrm>
          <a:prstGeom prst="rect">
            <a:avLst/>
          </a:prstGeom>
          <a:noFill/>
        </p:spPr>
        <p:txBody>
          <a:bodyPr wrap="square" lIns="0" rIns="0" tIns="0" bIns="0" anchor="t">
            <a:spAutoFit/>
          </a:bodyPr>
          <a:lstStyle/>
          <a:p>
            <a:pPr algn="ctr">
              <a:lnSpc>
                <a:spcPct val="110000"/>
              </a:lnSpc>
            </a:pPr>
            <a:r>
              <a:rPr sz="1500" b="1">
                <a:solidFill>
                  <a:srgbClr val="0F2430"/>
                </a:solidFill>
                <a:latin typeface="Segoe UI"/>
              </a:rPr>
              <a:t>Vercel Cron</a:t>
            </a:r>
          </a:p>
        </p:txBody>
      </p:sp>
      <p:sp>
        <p:nvSpPr>
          <p:cNvPr id="37" name="TextBox 36"/>
          <p:cNvSpPr txBox="1"/>
          <p:nvPr/>
        </p:nvSpPr>
        <p:spPr>
          <a:xfrm>
            <a:off x="9784080" y="4800600"/>
            <a:ext cx="1627632" cy="457200"/>
          </a:xfrm>
          <a:prstGeom prst="rect">
            <a:avLst/>
          </a:prstGeom>
          <a:noFill/>
        </p:spPr>
        <p:txBody>
          <a:bodyPr wrap="square" lIns="0" rIns="0" tIns="0" bIns="0" anchor="t">
            <a:spAutoFit/>
          </a:bodyPr>
          <a:lstStyle/>
          <a:p>
            <a:pPr algn="ctr">
              <a:lnSpc>
                <a:spcPct val="110000"/>
              </a:lnSpc>
            </a:pPr>
            <a:r>
              <a:rPr sz="1150" b="0">
                <a:solidFill>
                  <a:srgbClr val="5B6B73"/>
                </a:solidFill>
                <a:latin typeface="Segoe UI"/>
              </a:rPr>
              <a:t>Daily reminders</a:t>
            </a:r>
          </a:p>
        </p:txBody>
      </p:sp>
      <p:cxnSp>
        <p:nvCxnSpPr>
          <p:cNvPr id="38" name="Connector 37"/>
          <p:cNvCxnSpPr/>
          <p:nvPr/>
        </p:nvCxnSpPr>
        <p:spPr>
          <a:xfrm>
            <a:off x="6080760" y="3383280"/>
            <a:ext cx="4517136" cy="960120"/>
          </a:xfrm>
          <a:prstGeom prst="line">
            <a:avLst/>
          </a:prstGeom>
          <a:ln w="15875">
            <a:solidFill>
              <a:srgbClr val="C9D4D8"/>
            </a:solidFill>
            <a:tailEnd type="triangle"/>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31520" y="5623560"/>
            <a:ext cx="10698480" cy="457200"/>
          </a:xfrm>
          <a:prstGeom prst="rect">
            <a:avLst/>
          </a:prstGeom>
          <a:noFill/>
        </p:spPr>
        <p:txBody>
          <a:bodyPr wrap="square" lIns="0" rIns="0" tIns="0" bIns="0" anchor="t">
            <a:spAutoFit/>
          </a:bodyPr>
          <a:lstStyle/>
          <a:p>
            <a:pPr algn="ctr">
              <a:lnSpc>
                <a:spcPct val="110000"/>
              </a:lnSpc>
            </a:pPr>
            <a:r>
              <a:rPr sz="1400" b="0">
                <a:solidFill>
                  <a:srgbClr val="5B6B73"/>
                </a:solidFill>
                <a:latin typeface="Segoe UI"/>
              </a:rPr>
              <a:t>Client on Firebase Hosting  ·  API on Vercel  ·  CI on GitHub Actions  ·  263 commits, ~75k lines of code</a:t>
            </a:r>
          </a:p>
        </p:txBody>
      </p:sp>
      <p:sp>
        <p:nvSpPr>
          <p:cNvPr id="40" name="TextBox 39"/>
          <p:cNvSpPr txBox="1"/>
          <p:nvPr/>
        </p:nvSpPr>
        <p:spPr>
          <a:xfrm>
            <a:off x="731520" y="6400800"/>
            <a:ext cx="5486400" cy="274320"/>
          </a:xfrm>
          <a:prstGeom prst="rect">
            <a:avLst/>
          </a:prstGeom>
          <a:noFill/>
        </p:spPr>
        <p:txBody>
          <a:bodyPr wrap="square" lIns="0" rIns="0" tIns="0" bIns="0" anchor="t">
            <a:spAutoFit/>
          </a:bodyPr>
          <a:lstStyle/>
          <a:p>
            <a:pPr algn="l">
              <a:lnSpc>
                <a:spcPct val="110000"/>
              </a:lnSpc>
            </a:pPr>
            <a:r>
              <a:rPr sz="1000" b="0">
                <a:solidFill>
                  <a:srgbClr val="5B6B73"/>
                </a:solidFill>
                <a:latin typeface="Segoe UI"/>
              </a:rPr>
              <a:t>Sarabo  ·  Jahid Hasan  ·  Metropolitan University</a:t>
            </a:r>
          </a:p>
        </p:txBody>
      </p:sp>
      <p:sp>
        <p:nvSpPr>
          <p:cNvPr id="41" name="TextBox 40"/>
          <p:cNvSpPr txBox="1"/>
          <p:nvPr/>
        </p:nvSpPr>
        <p:spPr>
          <a:xfrm>
            <a:off x="10728655" y="6400800"/>
            <a:ext cx="731520" cy="274320"/>
          </a:xfrm>
          <a:prstGeom prst="rect">
            <a:avLst/>
          </a:prstGeom>
          <a:noFill/>
        </p:spPr>
        <p:txBody>
          <a:bodyPr wrap="square" lIns="0" rIns="0" tIns="0" bIns="0" anchor="t">
            <a:spAutoFit/>
          </a:bodyPr>
          <a:lstStyle/>
          <a:p>
            <a:pPr algn="r">
              <a:lnSpc>
                <a:spcPct val="110000"/>
              </a:lnSpc>
            </a:pPr>
            <a:r>
              <a:rPr sz="1000" b="0">
                <a:solidFill>
                  <a:srgbClr val="5B6B73"/>
                </a:solidFill>
                <a:latin typeface="Segoe UI"/>
              </a:rPr>
              <a:t>7/10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731520" y="502920"/>
            <a:ext cx="7315200" cy="320040"/>
          </a:xfrm>
          <a:prstGeom prst="rect">
            <a:avLst/>
          </a:prstGeom>
          <a:noFill/>
        </p:spPr>
        <p:txBody>
          <a:bodyPr wrap="square" lIns="0" rIns="0" tIns="0" bIns="0" anchor="t">
            <a:spAutoFit/>
          </a:bodyPr>
          <a:lstStyle/>
          <a:p>
            <a:pPr algn="l">
              <a:lnSpc>
                <a:spcPct val="110000"/>
              </a:lnSpc>
            </a:pPr>
            <a:r>
              <a:rPr sz="1300" b="1">
                <a:solidFill>
                  <a:srgbClr val="1E6F63"/>
                </a:solidFill>
                <a:latin typeface="Segoe UI"/>
              </a:rPr>
              <a:t>ENGINEERING FOR TRUST</a:t>
            </a:r>
          </a:p>
        </p:txBody>
      </p:sp>
      <p:sp>
        <p:nvSpPr>
          <p:cNvPr id="3" name="TextBox 2"/>
          <p:cNvSpPr txBox="1"/>
          <p:nvPr/>
        </p:nvSpPr>
        <p:spPr>
          <a:xfrm>
            <a:off x="731520" y="822960"/>
            <a:ext cx="10698480" cy="822960"/>
          </a:xfrm>
          <a:prstGeom prst="rect">
            <a:avLst/>
          </a:prstGeom>
          <a:noFill/>
        </p:spPr>
        <p:txBody>
          <a:bodyPr wrap="square" lIns="0" rIns="0" tIns="0" bIns="0" anchor="t">
            <a:spAutoFit/>
          </a:bodyPr>
          <a:lstStyle/>
          <a:p>
            <a:pPr algn="l">
              <a:lnSpc>
                <a:spcPct val="110000"/>
              </a:lnSpc>
            </a:pPr>
            <a:r>
              <a:rPr sz="3400" b="1">
                <a:solidFill>
                  <a:srgbClr val="0F2430"/>
                </a:solidFill>
                <a:latin typeface="Segoe UI"/>
              </a:rPr>
              <a:t>Money and state can never get out of sync</a:t>
            </a:r>
          </a:p>
        </p:txBody>
      </p:sp>
      <p:sp>
        <p:nvSpPr>
          <p:cNvPr id="4" name="TextBox 3"/>
          <p:cNvSpPr txBox="1"/>
          <p:nvPr/>
        </p:nvSpPr>
        <p:spPr>
          <a:xfrm>
            <a:off x="731520" y="1965960"/>
            <a:ext cx="2377440" cy="365760"/>
          </a:xfrm>
          <a:prstGeom prst="rect">
            <a:avLst/>
          </a:prstGeom>
          <a:noFill/>
        </p:spPr>
        <p:txBody>
          <a:bodyPr wrap="square" lIns="0" rIns="0" tIns="0" bIns="0" anchor="t">
            <a:spAutoFit/>
          </a:bodyPr>
          <a:lstStyle/>
          <a:p>
            <a:pPr algn="l">
              <a:lnSpc>
                <a:spcPct val="110000"/>
              </a:lnSpc>
            </a:pPr>
            <a:r>
              <a:rPr sz="1700" b="1">
                <a:solidFill>
                  <a:srgbClr val="1E6F63"/>
                </a:solidFill>
                <a:latin typeface="Segoe UI"/>
              </a:rPr>
              <a:t>Server decides</a:t>
            </a:r>
          </a:p>
        </p:txBody>
      </p:sp>
      <p:sp>
        <p:nvSpPr>
          <p:cNvPr id="5" name="TextBox 4"/>
          <p:cNvSpPr txBox="1"/>
          <p:nvPr/>
        </p:nvSpPr>
        <p:spPr>
          <a:xfrm>
            <a:off x="3108960" y="1993392"/>
            <a:ext cx="4114800" cy="685800"/>
          </a:xfrm>
          <a:prstGeom prst="rect">
            <a:avLst/>
          </a:prstGeom>
          <a:noFill/>
        </p:spPr>
        <p:txBody>
          <a:bodyPr wrap="square" lIns="0" rIns="0" tIns="0" bIns="0" anchor="t">
            <a:spAutoFit/>
          </a:bodyPr>
          <a:lstStyle/>
          <a:p>
            <a:pPr algn="l">
              <a:lnSpc>
                <a:spcPct val="110000"/>
              </a:lnSpc>
            </a:pPr>
            <a:r>
              <a:rPr sz="1400" b="0">
                <a:solidFill>
                  <a:srgbClr val="0F2430"/>
                </a:solidFill>
                <a:latin typeface="Segoe UI"/>
              </a:rPr>
              <a:t>Role + current state checked on every action; the browser never sets a price</a:t>
            </a:r>
          </a:p>
        </p:txBody>
      </p:sp>
      <p:sp>
        <p:nvSpPr>
          <p:cNvPr id="6" name="TextBox 5"/>
          <p:cNvSpPr txBox="1"/>
          <p:nvPr/>
        </p:nvSpPr>
        <p:spPr>
          <a:xfrm>
            <a:off x="731520" y="2743200"/>
            <a:ext cx="2377440" cy="365760"/>
          </a:xfrm>
          <a:prstGeom prst="rect">
            <a:avLst/>
          </a:prstGeom>
          <a:noFill/>
        </p:spPr>
        <p:txBody>
          <a:bodyPr wrap="square" lIns="0" rIns="0" tIns="0" bIns="0" anchor="t">
            <a:spAutoFit/>
          </a:bodyPr>
          <a:lstStyle/>
          <a:p>
            <a:pPr algn="l">
              <a:lnSpc>
                <a:spcPct val="110000"/>
              </a:lnSpc>
            </a:pPr>
            <a:r>
              <a:rPr sz="1700" b="1">
                <a:solidFill>
                  <a:srgbClr val="1E6F63"/>
                </a:solidFill>
                <a:latin typeface="Segoe UI"/>
              </a:rPr>
              <a:t>All-or-nothing</a:t>
            </a:r>
          </a:p>
        </p:txBody>
      </p:sp>
      <p:sp>
        <p:nvSpPr>
          <p:cNvPr id="7" name="TextBox 6"/>
          <p:cNvSpPr txBox="1"/>
          <p:nvPr/>
        </p:nvSpPr>
        <p:spPr>
          <a:xfrm>
            <a:off x="3108960" y="2770632"/>
            <a:ext cx="4114800" cy="685800"/>
          </a:xfrm>
          <a:prstGeom prst="rect">
            <a:avLst/>
          </a:prstGeom>
          <a:noFill/>
        </p:spPr>
        <p:txBody>
          <a:bodyPr wrap="square" lIns="0" rIns="0" tIns="0" bIns="0" anchor="t">
            <a:spAutoFit/>
          </a:bodyPr>
          <a:lstStyle/>
          <a:p>
            <a:pPr algn="l">
              <a:lnSpc>
                <a:spcPct val="110000"/>
              </a:lnSpc>
            </a:pPr>
            <a:r>
              <a:rPr sz="1400" b="0">
                <a:solidFill>
                  <a:srgbClr val="0F2430"/>
                </a:solidFill>
                <a:latin typeface="Segoe UI"/>
              </a:rPr>
              <a:t>Booking, payment, settlement and refunds run as database transactions</a:t>
            </a:r>
          </a:p>
        </p:txBody>
      </p:sp>
      <p:sp>
        <p:nvSpPr>
          <p:cNvPr id="8" name="TextBox 7"/>
          <p:cNvSpPr txBox="1"/>
          <p:nvPr/>
        </p:nvSpPr>
        <p:spPr>
          <a:xfrm>
            <a:off x="731520" y="3520439"/>
            <a:ext cx="2377440" cy="365760"/>
          </a:xfrm>
          <a:prstGeom prst="rect">
            <a:avLst/>
          </a:prstGeom>
          <a:noFill/>
        </p:spPr>
        <p:txBody>
          <a:bodyPr wrap="square" lIns="0" rIns="0" tIns="0" bIns="0" anchor="t">
            <a:spAutoFit/>
          </a:bodyPr>
          <a:lstStyle/>
          <a:p>
            <a:pPr algn="l">
              <a:lnSpc>
                <a:spcPct val="110000"/>
              </a:lnSpc>
            </a:pPr>
            <a:r>
              <a:rPr sz="1700" b="1">
                <a:solidFill>
                  <a:srgbClr val="1E6F63"/>
                </a:solidFill>
                <a:latin typeface="Segoe UI"/>
              </a:rPr>
              <a:t>Exactly once</a:t>
            </a:r>
          </a:p>
        </p:txBody>
      </p:sp>
      <p:sp>
        <p:nvSpPr>
          <p:cNvPr id="9" name="TextBox 8"/>
          <p:cNvSpPr txBox="1"/>
          <p:nvPr/>
        </p:nvSpPr>
        <p:spPr>
          <a:xfrm>
            <a:off x="3108960" y="3547871"/>
            <a:ext cx="4114800" cy="685800"/>
          </a:xfrm>
          <a:prstGeom prst="rect">
            <a:avLst/>
          </a:prstGeom>
          <a:noFill/>
        </p:spPr>
        <p:txBody>
          <a:bodyPr wrap="square" lIns="0" rIns="0" tIns="0" bIns="0" anchor="t">
            <a:spAutoFit/>
          </a:bodyPr>
          <a:lstStyle/>
          <a:p>
            <a:pPr algn="l">
              <a:lnSpc>
                <a:spcPct val="110000"/>
              </a:lnSpc>
            </a:pPr>
            <a:r>
              <a:rPr sz="1400" b="0">
                <a:solidFill>
                  <a:srgbClr val="0F2430"/>
                </a:solidFill>
                <a:latin typeface="Segoe UI"/>
              </a:rPr>
              <a:t>Signed Stripe webhook; idempotent payments and refunds; no double booking</a:t>
            </a:r>
          </a:p>
        </p:txBody>
      </p:sp>
      <p:sp>
        <p:nvSpPr>
          <p:cNvPr id="10" name="TextBox 9"/>
          <p:cNvSpPr txBox="1"/>
          <p:nvPr/>
        </p:nvSpPr>
        <p:spPr>
          <a:xfrm>
            <a:off x="731520" y="4297679"/>
            <a:ext cx="2377440" cy="365760"/>
          </a:xfrm>
          <a:prstGeom prst="rect">
            <a:avLst/>
          </a:prstGeom>
          <a:noFill/>
        </p:spPr>
        <p:txBody>
          <a:bodyPr wrap="square" lIns="0" rIns="0" tIns="0" bIns="0" anchor="t">
            <a:spAutoFit/>
          </a:bodyPr>
          <a:lstStyle/>
          <a:p>
            <a:pPr algn="l">
              <a:lnSpc>
                <a:spcPct val="110000"/>
              </a:lnSpc>
            </a:pPr>
            <a:r>
              <a:rPr sz="1700" b="1">
                <a:solidFill>
                  <a:srgbClr val="1E6F63"/>
                </a:solidFill>
                <a:latin typeface="Segoe UI"/>
              </a:rPr>
              <a:t>Honest wallet</a:t>
            </a:r>
          </a:p>
        </p:txBody>
      </p:sp>
      <p:sp>
        <p:nvSpPr>
          <p:cNvPr id="11" name="TextBox 10"/>
          <p:cNvSpPr txBox="1"/>
          <p:nvPr/>
        </p:nvSpPr>
        <p:spPr>
          <a:xfrm>
            <a:off x="3108960" y="4325111"/>
            <a:ext cx="4114800" cy="685800"/>
          </a:xfrm>
          <a:prstGeom prst="rect">
            <a:avLst/>
          </a:prstGeom>
          <a:noFill/>
        </p:spPr>
        <p:txBody>
          <a:bodyPr wrap="square" lIns="0" rIns="0" tIns="0" bIns="0" anchor="t">
            <a:spAutoFit/>
          </a:bodyPr>
          <a:lstStyle/>
          <a:p>
            <a:pPr algn="l">
              <a:lnSpc>
                <a:spcPct val="110000"/>
              </a:lnSpc>
            </a:pPr>
            <a:r>
              <a:rPr sz="1400" b="0">
                <a:solidFill>
                  <a:srgbClr val="0F2430"/>
                </a:solidFill>
                <a:latin typeface="Segoe UI"/>
              </a:rPr>
              <a:t>90/10 split frozen at payment; balance computed, never stored</a:t>
            </a:r>
          </a:p>
        </p:txBody>
      </p:sp>
      <p:sp>
        <p:nvSpPr>
          <p:cNvPr id="12" name="TextBox 11"/>
          <p:cNvSpPr txBox="1"/>
          <p:nvPr/>
        </p:nvSpPr>
        <p:spPr>
          <a:xfrm>
            <a:off x="731520" y="5074920"/>
            <a:ext cx="2377440" cy="365760"/>
          </a:xfrm>
          <a:prstGeom prst="rect">
            <a:avLst/>
          </a:prstGeom>
          <a:noFill/>
        </p:spPr>
        <p:txBody>
          <a:bodyPr wrap="square" lIns="0" rIns="0" tIns="0" bIns="0" anchor="t">
            <a:spAutoFit/>
          </a:bodyPr>
          <a:lstStyle/>
          <a:p>
            <a:pPr algn="l">
              <a:lnSpc>
                <a:spcPct val="110000"/>
              </a:lnSpc>
            </a:pPr>
            <a:r>
              <a:rPr sz="1700" b="1">
                <a:solidFill>
                  <a:srgbClr val="1E6F63"/>
                </a:solidFill>
                <a:latin typeface="Segoe UI"/>
              </a:rPr>
              <a:t>Private by default</a:t>
            </a:r>
          </a:p>
        </p:txBody>
      </p:sp>
      <p:sp>
        <p:nvSpPr>
          <p:cNvPr id="13" name="TextBox 12"/>
          <p:cNvSpPr txBox="1"/>
          <p:nvPr/>
        </p:nvSpPr>
        <p:spPr>
          <a:xfrm>
            <a:off x="3108960" y="5102352"/>
            <a:ext cx="4114800" cy="685800"/>
          </a:xfrm>
          <a:prstGeom prst="rect">
            <a:avLst/>
          </a:prstGeom>
          <a:noFill/>
        </p:spPr>
        <p:txBody>
          <a:bodyPr wrap="square" lIns="0" rIns="0" tIns="0" bIns="0" anchor="t">
            <a:spAutoFit/>
          </a:bodyPr>
          <a:lstStyle/>
          <a:p>
            <a:pPr algn="l">
              <a:lnSpc>
                <a:spcPct val="110000"/>
              </a:lnSpc>
            </a:pPr>
            <a:r>
              <a:rPr sz="1400" b="0">
                <a:solidFill>
                  <a:srgbClr val="0F2430"/>
                </a:solidFill>
                <a:latin typeface="Segoe UI"/>
              </a:rPr>
              <a:t>Signed short-lived photo links; public pages show no personal data</a:t>
            </a:r>
          </a:p>
        </p:txBody>
      </p:sp>
      <p:sp>
        <p:nvSpPr>
          <p:cNvPr id="14" name="Rounded Rectangle 13"/>
          <p:cNvSpPr/>
          <p:nvPr/>
        </p:nvSpPr>
        <p:spPr>
          <a:xfrm>
            <a:off x="7680960" y="1965960"/>
            <a:ext cx="3749039" cy="265176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0" y="2194560"/>
            <a:ext cx="3749039" cy="365760"/>
          </a:xfrm>
          <a:prstGeom prst="rect">
            <a:avLst/>
          </a:prstGeom>
          <a:noFill/>
        </p:spPr>
        <p:txBody>
          <a:bodyPr wrap="square" lIns="0" rIns="0" tIns="0" bIns="0" anchor="t">
            <a:spAutoFit/>
          </a:bodyPr>
          <a:lstStyle/>
          <a:p>
            <a:pPr algn="ctr">
              <a:lnSpc>
                <a:spcPct val="110000"/>
              </a:lnSpc>
            </a:pPr>
            <a:r>
              <a:rPr sz="1400" b="0">
                <a:solidFill>
                  <a:srgbClr val="5B6B73"/>
                </a:solidFill>
                <a:latin typeface="Segoe UI"/>
              </a:rPr>
              <a:t>Concurrency tests</a:t>
            </a:r>
          </a:p>
        </p:txBody>
      </p:sp>
      <p:sp>
        <p:nvSpPr>
          <p:cNvPr id="16" name="TextBox 15"/>
          <p:cNvSpPr txBox="1"/>
          <p:nvPr/>
        </p:nvSpPr>
        <p:spPr>
          <a:xfrm>
            <a:off x="7863840" y="2651760"/>
            <a:ext cx="3383280" cy="2834640"/>
          </a:xfrm>
          <a:prstGeom prst="rect">
            <a:avLst/>
          </a:prstGeom>
          <a:noFill/>
        </p:spPr>
        <p:txBody>
          <a:bodyPr wrap="square" lIns="0" rIns="0" tIns="0" bIns="0" anchor="t">
            <a:spAutoFit/>
          </a:bodyPr>
          <a:lstStyle/>
          <a:p>
            <a:pPr algn="l">
              <a:lnSpc>
                <a:spcPct val="190000"/>
              </a:lnSpc>
            </a:pPr>
            <a:r>
              <a:rPr sz="1400" b="0">
                <a:solidFill>
                  <a:srgbClr val="0F2430"/>
                </a:solidFill>
                <a:latin typeface="Segoe UI"/>
              </a:rPr>
              <a:t>Two admins assign at once → one winner</a:t>
            </a:r>
          </a:p>
          <a:p>
            <a:pPr algn="l">
              <a:lnSpc>
                <a:spcPct val="190000"/>
              </a:lnSpc>
            </a:pPr>
            <a:r>
              <a:rPr sz="1400" b="0">
                <a:solidFill>
                  <a:srgbClr val="0F2430"/>
                </a:solidFill>
                <a:latin typeface="Segoe UI"/>
              </a:rPr>
              <a:t>Cancel races payment → one winner</a:t>
            </a:r>
          </a:p>
          <a:p>
            <a:pPr algn="l">
              <a:lnSpc>
                <a:spcPct val="190000"/>
              </a:lnSpc>
            </a:pPr>
            <a:r>
              <a:rPr sz="1400" b="0">
                <a:solidFill>
                  <a:srgbClr val="0F2430"/>
                </a:solidFill>
                <a:latin typeface="Segoe UI"/>
              </a:rPr>
              <a:t>Same webhook ×3 in parallel → one payment</a:t>
            </a:r>
          </a:p>
        </p:txBody>
      </p:sp>
      <p:sp>
        <p:nvSpPr>
          <p:cNvPr id="17" name="TextBox 16"/>
          <p:cNvSpPr txBox="1"/>
          <p:nvPr/>
        </p:nvSpPr>
        <p:spPr>
          <a:xfrm>
            <a:off x="731520" y="6400800"/>
            <a:ext cx="5486400" cy="274320"/>
          </a:xfrm>
          <a:prstGeom prst="rect">
            <a:avLst/>
          </a:prstGeom>
          <a:noFill/>
        </p:spPr>
        <p:txBody>
          <a:bodyPr wrap="square" lIns="0" rIns="0" tIns="0" bIns="0" anchor="t">
            <a:spAutoFit/>
          </a:bodyPr>
          <a:lstStyle/>
          <a:p>
            <a:pPr algn="l">
              <a:lnSpc>
                <a:spcPct val="110000"/>
              </a:lnSpc>
            </a:pPr>
            <a:r>
              <a:rPr sz="1000" b="0">
                <a:solidFill>
                  <a:srgbClr val="5B6B73"/>
                </a:solidFill>
                <a:latin typeface="Segoe UI"/>
              </a:rPr>
              <a:t>Sarabo  ·  Jahid Hasan  ·  Metropolitan University</a:t>
            </a:r>
          </a:p>
        </p:txBody>
      </p:sp>
      <p:sp>
        <p:nvSpPr>
          <p:cNvPr id="18" name="TextBox 17"/>
          <p:cNvSpPr txBox="1"/>
          <p:nvPr/>
        </p:nvSpPr>
        <p:spPr>
          <a:xfrm>
            <a:off x="10728655" y="6400800"/>
            <a:ext cx="731520" cy="274320"/>
          </a:xfrm>
          <a:prstGeom prst="rect">
            <a:avLst/>
          </a:prstGeom>
          <a:noFill/>
        </p:spPr>
        <p:txBody>
          <a:bodyPr wrap="square" lIns="0" rIns="0" tIns="0" bIns="0" anchor="t">
            <a:spAutoFit/>
          </a:bodyPr>
          <a:lstStyle/>
          <a:p>
            <a:pPr algn="r">
              <a:lnSpc>
                <a:spcPct val="110000"/>
              </a:lnSpc>
            </a:pPr>
            <a:r>
              <a:rPr sz="1000" b="0">
                <a:solidFill>
                  <a:srgbClr val="5B6B73"/>
                </a:solidFill>
                <a:latin typeface="Segoe UI"/>
              </a:rPr>
              <a:t>8/10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7F5"/>
        </a:solidFill>
        <a:effectLst/>
      </p:bgPr>
    </p:bg>
    <p:spTree>
      <p:nvGrpSpPr>
        <p:cNvPr id="1" name=""/>
        <p:cNvGrpSpPr/>
        <p:nvPr/>
      </p:nvGrpSpPr>
      <p:grpSpPr/>
      <p:sp>
        <p:nvSpPr>
          <p:cNvPr id="2" name="TextBox 1"/>
          <p:cNvSpPr txBox="1"/>
          <p:nvPr/>
        </p:nvSpPr>
        <p:spPr>
          <a:xfrm>
            <a:off x="731520" y="502920"/>
            <a:ext cx="7315200" cy="320040"/>
          </a:xfrm>
          <a:prstGeom prst="rect">
            <a:avLst/>
          </a:prstGeom>
          <a:noFill/>
        </p:spPr>
        <p:txBody>
          <a:bodyPr wrap="square" lIns="0" rIns="0" tIns="0" bIns="0" anchor="t">
            <a:spAutoFit/>
          </a:bodyPr>
          <a:lstStyle/>
          <a:p>
            <a:pPr algn="l">
              <a:lnSpc>
                <a:spcPct val="110000"/>
              </a:lnSpc>
            </a:pPr>
            <a:r>
              <a:rPr sz="1300" b="1">
                <a:solidFill>
                  <a:srgbClr val="1E6F63"/>
                </a:solidFill>
                <a:latin typeface="Segoe UI"/>
              </a:rPr>
              <a:t>RESULTS</a:t>
            </a:r>
          </a:p>
        </p:txBody>
      </p:sp>
      <p:sp>
        <p:nvSpPr>
          <p:cNvPr id="3" name="TextBox 2"/>
          <p:cNvSpPr txBox="1"/>
          <p:nvPr/>
        </p:nvSpPr>
        <p:spPr>
          <a:xfrm>
            <a:off x="731520" y="822960"/>
            <a:ext cx="10698480" cy="822960"/>
          </a:xfrm>
          <a:prstGeom prst="rect">
            <a:avLst/>
          </a:prstGeom>
          <a:noFill/>
        </p:spPr>
        <p:txBody>
          <a:bodyPr wrap="square" lIns="0" rIns="0" tIns="0" bIns="0" anchor="t">
            <a:spAutoFit/>
          </a:bodyPr>
          <a:lstStyle/>
          <a:p>
            <a:pPr algn="l">
              <a:lnSpc>
                <a:spcPct val="110000"/>
              </a:lnSpc>
            </a:pPr>
            <a:r>
              <a:rPr sz="3400" b="1">
                <a:solidFill>
                  <a:srgbClr val="0F2430"/>
                </a:solidFill>
                <a:latin typeface="Segoe UI"/>
              </a:rPr>
              <a:t>Verified, deployed, and ready to grow</a:t>
            </a:r>
          </a:p>
        </p:txBody>
      </p:sp>
      <p:sp>
        <p:nvSpPr>
          <p:cNvPr id="4" name="Rounded Rectangle 3"/>
          <p:cNvSpPr/>
          <p:nvPr/>
        </p:nvSpPr>
        <p:spPr>
          <a:xfrm>
            <a:off x="731520" y="1965960"/>
            <a:ext cx="2514600" cy="16002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48840"/>
            <a:ext cx="2514600" cy="731520"/>
          </a:xfrm>
          <a:prstGeom prst="rect">
            <a:avLst/>
          </a:prstGeom>
          <a:noFill/>
        </p:spPr>
        <p:txBody>
          <a:bodyPr wrap="square" lIns="0" rIns="0" tIns="0" bIns="0" anchor="t">
            <a:spAutoFit/>
          </a:bodyPr>
          <a:lstStyle/>
          <a:p>
            <a:pPr algn="ctr">
              <a:lnSpc>
                <a:spcPct val="110000"/>
              </a:lnSpc>
            </a:pPr>
            <a:r>
              <a:rPr sz="4000" b="1">
                <a:solidFill>
                  <a:srgbClr val="0F2430"/>
                </a:solidFill>
                <a:latin typeface="Segoe UI"/>
              </a:rPr>
              <a:t>2,595</a:t>
            </a:r>
          </a:p>
        </p:txBody>
      </p:sp>
      <p:sp>
        <p:nvSpPr>
          <p:cNvPr id="6" name="TextBox 5"/>
          <p:cNvSpPr txBox="1"/>
          <p:nvPr/>
        </p:nvSpPr>
        <p:spPr>
          <a:xfrm>
            <a:off x="731520" y="2926080"/>
            <a:ext cx="2514600" cy="457200"/>
          </a:xfrm>
          <a:prstGeom prst="rect">
            <a:avLst/>
          </a:prstGeom>
          <a:noFill/>
        </p:spPr>
        <p:txBody>
          <a:bodyPr wrap="square" lIns="0" rIns="0" tIns="0" bIns="0" anchor="t">
            <a:spAutoFit/>
          </a:bodyPr>
          <a:lstStyle/>
          <a:p>
            <a:pPr algn="ctr">
              <a:lnSpc>
                <a:spcPct val="110000"/>
              </a:lnSpc>
            </a:pPr>
            <a:r>
              <a:rPr sz="1400" b="0">
                <a:solidFill>
                  <a:srgbClr val="5B6B73"/>
                </a:solidFill>
                <a:latin typeface="Segoe UI"/>
              </a:rPr>
              <a:t>server checks passed</a:t>
            </a:r>
          </a:p>
        </p:txBody>
      </p:sp>
      <p:sp>
        <p:nvSpPr>
          <p:cNvPr id="7" name="Rounded Rectangle 6"/>
          <p:cNvSpPr/>
          <p:nvPr/>
        </p:nvSpPr>
        <p:spPr>
          <a:xfrm>
            <a:off x="3456432" y="1965960"/>
            <a:ext cx="2514600" cy="16002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6432" y="2148840"/>
            <a:ext cx="2514600" cy="731520"/>
          </a:xfrm>
          <a:prstGeom prst="rect">
            <a:avLst/>
          </a:prstGeom>
          <a:noFill/>
        </p:spPr>
        <p:txBody>
          <a:bodyPr wrap="square" lIns="0" rIns="0" tIns="0" bIns="0" anchor="t">
            <a:spAutoFit/>
          </a:bodyPr>
          <a:lstStyle/>
          <a:p>
            <a:pPr algn="ctr">
              <a:lnSpc>
                <a:spcPct val="110000"/>
              </a:lnSpc>
            </a:pPr>
            <a:r>
              <a:rPr sz="4000" b="1">
                <a:solidFill>
                  <a:srgbClr val="0F2430"/>
                </a:solidFill>
                <a:latin typeface="Segoe UI"/>
              </a:rPr>
              <a:t>58</a:t>
            </a:r>
          </a:p>
        </p:txBody>
      </p:sp>
      <p:sp>
        <p:nvSpPr>
          <p:cNvPr id="9" name="TextBox 8"/>
          <p:cNvSpPr txBox="1"/>
          <p:nvPr/>
        </p:nvSpPr>
        <p:spPr>
          <a:xfrm>
            <a:off x="3456432" y="2926080"/>
            <a:ext cx="2514600" cy="457200"/>
          </a:xfrm>
          <a:prstGeom prst="rect">
            <a:avLst/>
          </a:prstGeom>
          <a:noFill/>
        </p:spPr>
        <p:txBody>
          <a:bodyPr wrap="square" lIns="0" rIns="0" tIns="0" bIns="0" anchor="t">
            <a:spAutoFit/>
          </a:bodyPr>
          <a:lstStyle/>
          <a:p>
            <a:pPr algn="ctr">
              <a:lnSpc>
                <a:spcPct val="110000"/>
              </a:lnSpc>
            </a:pPr>
            <a:r>
              <a:rPr sz="1400" b="0">
                <a:solidFill>
                  <a:srgbClr val="5B6B73"/>
                </a:solidFill>
                <a:latin typeface="Segoe UI"/>
              </a:rPr>
              <a:t>browser tests passed</a:t>
            </a:r>
          </a:p>
        </p:txBody>
      </p:sp>
      <p:sp>
        <p:nvSpPr>
          <p:cNvPr id="10" name="Rounded Rectangle 9"/>
          <p:cNvSpPr/>
          <p:nvPr/>
        </p:nvSpPr>
        <p:spPr>
          <a:xfrm>
            <a:off x="6181344" y="1965960"/>
            <a:ext cx="2514600" cy="16002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1344" y="2148840"/>
            <a:ext cx="2514600" cy="731520"/>
          </a:xfrm>
          <a:prstGeom prst="rect">
            <a:avLst/>
          </a:prstGeom>
          <a:noFill/>
        </p:spPr>
        <p:txBody>
          <a:bodyPr wrap="square" lIns="0" rIns="0" tIns="0" bIns="0" anchor="t">
            <a:spAutoFit/>
          </a:bodyPr>
          <a:lstStyle/>
          <a:p>
            <a:pPr algn="ctr">
              <a:lnSpc>
                <a:spcPct val="110000"/>
              </a:lnSpc>
            </a:pPr>
            <a:r>
              <a:rPr sz="4000" b="1">
                <a:solidFill>
                  <a:srgbClr val="0F2430"/>
                </a:solidFill>
                <a:latin typeface="Segoe UI"/>
              </a:rPr>
              <a:t>11 / 11</a:t>
            </a:r>
          </a:p>
        </p:txBody>
      </p:sp>
      <p:sp>
        <p:nvSpPr>
          <p:cNvPr id="12" name="TextBox 11"/>
          <p:cNvSpPr txBox="1"/>
          <p:nvPr/>
        </p:nvSpPr>
        <p:spPr>
          <a:xfrm>
            <a:off x="6181344" y="2926080"/>
            <a:ext cx="2514600" cy="457200"/>
          </a:xfrm>
          <a:prstGeom prst="rect">
            <a:avLst/>
          </a:prstGeom>
          <a:noFill/>
        </p:spPr>
        <p:txBody>
          <a:bodyPr wrap="square" lIns="0" rIns="0" tIns="0" bIns="0" anchor="t">
            <a:spAutoFit/>
          </a:bodyPr>
          <a:lstStyle/>
          <a:p>
            <a:pPr algn="ctr">
              <a:lnSpc>
                <a:spcPct val="110000"/>
              </a:lnSpc>
            </a:pPr>
            <a:r>
              <a:rPr sz="1400" b="0">
                <a:solidFill>
                  <a:srgbClr val="5B6B73"/>
                </a:solidFill>
                <a:latin typeface="Segoe UI"/>
              </a:rPr>
              <a:t>objectives met</a:t>
            </a:r>
          </a:p>
        </p:txBody>
      </p:sp>
      <p:sp>
        <p:nvSpPr>
          <p:cNvPr id="13" name="Rounded Rectangle 12"/>
          <p:cNvSpPr/>
          <p:nvPr/>
        </p:nvSpPr>
        <p:spPr>
          <a:xfrm>
            <a:off x="8906256" y="1965960"/>
            <a:ext cx="2514600" cy="1600200"/>
          </a:xfrm>
          <a:prstGeom prst="roundRect">
            <a:avLst>
              <a:gd name="adj" fmla="val 8000"/>
            </a:avLst>
          </a:prstGeom>
          <a:solidFill>
            <a:srgbClr val="FFFFFF"/>
          </a:solidFill>
          <a:ln w="12700">
            <a:solidFill>
              <a:srgbClr val="E2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06256" y="2148840"/>
            <a:ext cx="2514600" cy="731520"/>
          </a:xfrm>
          <a:prstGeom prst="rect">
            <a:avLst/>
          </a:prstGeom>
          <a:noFill/>
        </p:spPr>
        <p:txBody>
          <a:bodyPr wrap="square" lIns="0" rIns="0" tIns="0" bIns="0" anchor="t">
            <a:spAutoFit/>
          </a:bodyPr>
          <a:lstStyle/>
          <a:p>
            <a:pPr algn="ctr">
              <a:lnSpc>
                <a:spcPct val="110000"/>
              </a:lnSpc>
            </a:pPr>
            <a:r>
              <a:rPr sz="4000" b="1">
                <a:solidFill>
                  <a:srgbClr val="0F2430"/>
                </a:solidFill>
                <a:latin typeface="Segoe UI"/>
              </a:rPr>
              <a:t>Live</a:t>
            </a:r>
          </a:p>
        </p:txBody>
      </p:sp>
      <p:sp>
        <p:nvSpPr>
          <p:cNvPr id="15" name="TextBox 14"/>
          <p:cNvSpPr txBox="1"/>
          <p:nvPr/>
        </p:nvSpPr>
        <p:spPr>
          <a:xfrm>
            <a:off x="8906256" y="2926080"/>
            <a:ext cx="2514600" cy="457200"/>
          </a:xfrm>
          <a:prstGeom prst="rect">
            <a:avLst/>
          </a:prstGeom>
          <a:noFill/>
        </p:spPr>
        <p:txBody>
          <a:bodyPr wrap="square" lIns="0" rIns="0" tIns="0" bIns="0" anchor="t">
            <a:spAutoFit/>
          </a:bodyPr>
          <a:lstStyle/>
          <a:p>
            <a:pPr algn="ctr">
              <a:lnSpc>
                <a:spcPct val="110000"/>
              </a:lnSpc>
            </a:pPr>
            <a:r>
              <a:rPr sz="1400" b="0">
                <a:solidFill>
                  <a:srgbClr val="5B6B73"/>
                </a:solidFill>
                <a:latin typeface="Segoe UI"/>
              </a:rPr>
              <a:t>Vercel + Firebase</a:t>
            </a:r>
          </a:p>
        </p:txBody>
      </p:sp>
      <p:sp>
        <p:nvSpPr>
          <p:cNvPr id="16" name="TextBox 15"/>
          <p:cNvSpPr txBox="1"/>
          <p:nvPr/>
        </p:nvSpPr>
        <p:spPr>
          <a:xfrm>
            <a:off x="731520" y="3931920"/>
            <a:ext cx="5120640" cy="365760"/>
          </a:xfrm>
          <a:prstGeom prst="rect">
            <a:avLst/>
          </a:prstGeom>
          <a:noFill/>
        </p:spPr>
        <p:txBody>
          <a:bodyPr wrap="square" lIns="0" rIns="0" tIns="0" bIns="0" anchor="t">
            <a:spAutoFit/>
          </a:bodyPr>
          <a:lstStyle/>
          <a:p>
            <a:pPr algn="l">
              <a:lnSpc>
                <a:spcPct val="110000"/>
              </a:lnSpc>
            </a:pPr>
            <a:r>
              <a:rPr sz="1800" b="1">
                <a:solidFill>
                  <a:srgbClr val="0F2430"/>
                </a:solidFill>
                <a:latin typeface="Segoe UI"/>
              </a:rPr>
              <a:t>Limitations</a:t>
            </a:r>
          </a:p>
        </p:txBody>
      </p:sp>
      <p:sp>
        <p:nvSpPr>
          <p:cNvPr id="17" name="TextBox 16"/>
          <p:cNvSpPr txBox="1"/>
          <p:nvPr/>
        </p:nvSpPr>
        <p:spPr>
          <a:xfrm>
            <a:off x="731520" y="4389120"/>
            <a:ext cx="5120640" cy="1463040"/>
          </a:xfrm>
          <a:prstGeom prst="rect">
            <a:avLst/>
          </a:prstGeom>
          <a:noFill/>
        </p:spPr>
        <p:txBody>
          <a:bodyPr wrap="square" lIns="0" rIns="0" tIns="0" bIns="0" anchor="t">
            <a:spAutoFit/>
          </a:bodyPr>
          <a:lstStyle/>
          <a:p>
            <a:pPr algn="l">
              <a:lnSpc>
                <a:spcPct val="150000"/>
              </a:lnSpc>
            </a:pPr>
            <a:r>
              <a:rPr sz="1450" b="0">
                <a:solidFill>
                  <a:srgbClr val="5B6B73"/>
                </a:solidFill>
                <a:latin typeface="Segoe UI"/>
              </a:rPr>
              <a:t>—  Stripe in test mode (not available in Bangladesh)</a:t>
            </a:r>
          </a:p>
          <a:p>
            <a:pPr algn="l">
              <a:lnSpc>
                <a:spcPct val="150000"/>
              </a:lnSpc>
            </a:pPr>
            <a:r>
              <a:rPr sz="1450" b="0">
                <a:solidFill>
                  <a:srgbClr val="5B6B73"/>
                </a:solidFill>
                <a:latin typeface="Segoe UI"/>
              </a:rPr>
              <a:t>—  Technician payouts sent manually via bKash</a:t>
            </a:r>
          </a:p>
          <a:p>
            <a:pPr algn="l">
              <a:lnSpc>
                <a:spcPct val="150000"/>
              </a:lnSpc>
            </a:pPr>
            <a:r>
              <a:rPr sz="1450" b="0">
                <a:solidFill>
                  <a:srgbClr val="5B6B73"/>
                </a:solidFill>
                <a:latin typeface="Segoe UI"/>
              </a:rPr>
              <a:t>—  Not yet used by real customers</a:t>
            </a:r>
          </a:p>
        </p:txBody>
      </p:sp>
      <p:sp>
        <p:nvSpPr>
          <p:cNvPr id="18" name="TextBox 17"/>
          <p:cNvSpPr txBox="1"/>
          <p:nvPr/>
        </p:nvSpPr>
        <p:spPr>
          <a:xfrm>
            <a:off x="6217920" y="3931920"/>
            <a:ext cx="5212080" cy="365760"/>
          </a:xfrm>
          <a:prstGeom prst="rect">
            <a:avLst/>
          </a:prstGeom>
          <a:noFill/>
        </p:spPr>
        <p:txBody>
          <a:bodyPr wrap="square" lIns="0" rIns="0" tIns="0" bIns="0" anchor="t">
            <a:spAutoFit/>
          </a:bodyPr>
          <a:lstStyle/>
          <a:p>
            <a:pPr algn="l">
              <a:lnSpc>
                <a:spcPct val="110000"/>
              </a:lnSpc>
            </a:pPr>
            <a:r>
              <a:rPr sz="1800" b="1">
                <a:solidFill>
                  <a:srgbClr val="0F2430"/>
                </a:solidFill>
                <a:latin typeface="Segoe UI"/>
              </a:rPr>
              <a:t>Next</a:t>
            </a:r>
          </a:p>
        </p:txBody>
      </p:sp>
      <p:sp>
        <p:nvSpPr>
          <p:cNvPr id="19" name="TextBox 18"/>
          <p:cNvSpPr txBox="1"/>
          <p:nvPr/>
        </p:nvSpPr>
        <p:spPr>
          <a:xfrm>
            <a:off x="6217920" y="4389120"/>
            <a:ext cx="5212080" cy="1463040"/>
          </a:xfrm>
          <a:prstGeom prst="rect">
            <a:avLst/>
          </a:prstGeom>
          <a:noFill/>
        </p:spPr>
        <p:txBody>
          <a:bodyPr wrap="square" lIns="0" rIns="0" tIns="0" bIns="0" anchor="t">
            <a:spAutoFit/>
          </a:bodyPr>
          <a:lstStyle/>
          <a:p>
            <a:pPr algn="l">
              <a:lnSpc>
                <a:spcPct val="150000"/>
              </a:lnSpc>
            </a:pPr>
            <a:r>
              <a:rPr sz="1450" b="0">
                <a:solidFill>
                  <a:srgbClr val="5B6B73"/>
                </a:solidFill>
                <a:latin typeface="Segoe UI"/>
              </a:rPr>
              <a:t>—  SSLCOMMERZ / bKash gateway and automated payouts</a:t>
            </a:r>
          </a:p>
          <a:p>
            <a:pPr algn="l">
              <a:lnSpc>
                <a:spcPct val="150000"/>
              </a:lnSpc>
            </a:pPr>
            <a:r>
              <a:rPr sz="1450" b="0">
                <a:solidFill>
                  <a:srgbClr val="5B6B73"/>
                </a:solidFill>
                <a:latin typeface="Segoe UI"/>
              </a:rPr>
              <a:t>—  Mobile app, SMS alerts, live technician location</a:t>
            </a:r>
          </a:p>
          <a:p>
            <a:pPr algn="l">
              <a:lnSpc>
                <a:spcPct val="150000"/>
              </a:lnSpc>
            </a:pPr>
            <a:r>
              <a:rPr sz="1450" b="0">
                <a:solidFill>
                  <a:srgbClr val="5B6B73"/>
                </a:solidFill>
                <a:latin typeface="Segoe UI"/>
              </a:rPr>
              <a:t>—  Full Bangla interface, warranty claims</a:t>
            </a:r>
          </a:p>
        </p:txBody>
      </p:sp>
      <p:sp>
        <p:nvSpPr>
          <p:cNvPr id="20" name="TextBox 19"/>
          <p:cNvSpPr txBox="1"/>
          <p:nvPr/>
        </p:nvSpPr>
        <p:spPr>
          <a:xfrm>
            <a:off x="731520" y="6400800"/>
            <a:ext cx="5486400" cy="274320"/>
          </a:xfrm>
          <a:prstGeom prst="rect">
            <a:avLst/>
          </a:prstGeom>
          <a:noFill/>
        </p:spPr>
        <p:txBody>
          <a:bodyPr wrap="square" lIns="0" rIns="0" tIns="0" bIns="0" anchor="t">
            <a:spAutoFit/>
          </a:bodyPr>
          <a:lstStyle/>
          <a:p>
            <a:pPr algn="l">
              <a:lnSpc>
                <a:spcPct val="110000"/>
              </a:lnSpc>
            </a:pPr>
            <a:r>
              <a:rPr sz="1000" b="0">
                <a:solidFill>
                  <a:srgbClr val="5B6B73"/>
                </a:solidFill>
                <a:latin typeface="Segoe UI"/>
              </a:rPr>
              <a:t>Sarabo  ·  Jahid Hasan  ·  Metropolitan University</a:t>
            </a:r>
          </a:p>
        </p:txBody>
      </p:sp>
      <p:sp>
        <p:nvSpPr>
          <p:cNvPr id="21" name="TextBox 20"/>
          <p:cNvSpPr txBox="1"/>
          <p:nvPr/>
        </p:nvSpPr>
        <p:spPr>
          <a:xfrm>
            <a:off x="10728655" y="6400800"/>
            <a:ext cx="731520" cy="274320"/>
          </a:xfrm>
          <a:prstGeom prst="rect">
            <a:avLst/>
          </a:prstGeom>
          <a:noFill/>
        </p:spPr>
        <p:txBody>
          <a:bodyPr wrap="square" lIns="0" rIns="0" tIns="0" bIns="0" anchor="t">
            <a:spAutoFit/>
          </a:bodyPr>
          <a:lstStyle/>
          <a:p>
            <a:pPr algn="r">
              <a:lnSpc>
                <a:spcPct val="110000"/>
              </a:lnSpc>
            </a:pPr>
            <a:r>
              <a:rPr sz="1000" b="0">
                <a:solidFill>
                  <a:srgbClr val="5B6B73"/>
                </a:solidFill>
                <a:latin typeface="Segoe UI"/>
              </a:rPr>
              <a:t>9/10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430"/>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F2B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on-ink.png"/>
          <p:cNvPicPr>
            <a:picLocks noChangeAspect="1"/>
          </p:cNvPicPr>
          <p:nvPr/>
        </p:nvPicPr>
        <p:blipFill>
          <a:blip r:embed="rId2"/>
          <a:stretch>
            <a:fillRect/>
          </a:stretch>
        </p:blipFill>
        <p:spPr>
          <a:xfrm>
            <a:off x="822960" y="914400"/>
            <a:ext cx="1005840" cy="1005840"/>
          </a:xfrm>
          <a:prstGeom prst="rect">
            <a:avLst/>
          </a:prstGeom>
        </p:spPr>
      </p:pic>
      <p:sp>
        <p:nvSpPr>
          <p:cNvPr id="4" name="TextBox 3"/>
          <p:cNvSpPr txBox="1"/>
          <p:nvPr/>
        </p:nvSpPr>
        <p:spPr>
          <a:xfrm>
            <a:off x="822960" y="2286000"/>
            <a:ext cx="10058400" cy="1097280"/>
          </a:xfrm>
          <a:prstGeom prst="rect">
            <a:avLst/>
          </a:prstGeom>
          <a:noFill/>
        </p:spPr>
        <p:txBody>
          <a:bodyPr wrap="square" lIns="0" rIns="0" tIns="0" bIns="0" anchor="t">
            <a:spAutoFit/>
          </a:bodyPr>
          <a:lstStyle/>
          <a:p>
            <a:pPr algn="l">
              <a:lnSpc>
                <a:spcPct val="110000"/>
              </a:lnSpc>
            </a:pPr>
            <a:r>
              <a:rPr sz="5400" b="1">
                <a:solidFill>
                  <a:srgbClr val="FFFFFF"/>
                </a:solidFill>
                <a:latin typeface="Segoe UI"/>
              </a:rPr>
              <a:t>Thank you</a:t>
            </a:r>
          </a:p>
        </p:txBody>
      </p:sp>
      <p:sp>
        <p:nvSpPr>
          <p:cNvPr id="5" name="TextBox 4"/>
          <p:cNvSpPr txBox="1"/>
          <p:nvPr/>
        </p:nvSpPr>
        <p:spPr>
          <a:xfrm>
            <a:off x="822960" y="3291840"/>
            <a:ext cx="10058400" cy="731520"/>
          </a:xfrm>
          <a:prstGeom prst="rect">
            <a:avLst/>
          </a:prstGeom>
          <a:noFill/>
        </p:spPr>
        <p:txBody>
          <a:bodyPr wrap="square" lIns="0" rIns="0" tIns="0" bIns="0" anchor="t">
            <a:spAutoFit/>
          </a:bodyPr>
          <a:lstStyle/>
          <a:p>
            <a:pPr algn="l">
              <a:lnSpc>
                <a:spcPct val="110000"/>
              </a:lnSpc>
            </a:pPr>
            <a:r>
              <a:rPr sz="2400" b="0">
                <a:solidFill>
                  <a:srgbClr val="F2B138"/>
                </a:solidFill>
                <a:latin typeface="Segoe UI"/>
              </a:rPr>
              <a:t>Next: live demo — a repair from request to payout</a:t>
            </a:r>
          </a:p>
        </p:txBody>
      </p:sp>
      <p:sp>
        <p:nvSpPr>
          <p:cNvPr id="6" name="TextBox 5"/>
          <p:cNvSpPr txBox="1"/>
          <p:nvPr/>
        </p:nvSpPr>
        <p:spPr>
          <a:xfrm>
            <a:off x="822960" y="4572000"/>
            <a:ext cx="10058400" cy="1097280"/>
          </a:xfrm>
          <a:prstGeom prst="rect">
            <a:avLst/>
          </a:prstGeom>
          <a:noFill/>
        </p:spPr>
        <p:txBody>
          <a:bodyPr wrap="square" lIns="0" rIns="0" tIns="0" bIns="0" anchor="t">
            <a:spAutoFit/>
          </a:bodyPr>
          <a:lstStyle/>
          <a:p>
            <a:pPr algn="l">
              <a:lnSpc>
                <a:spcPct val="140000"/>
              </a:lnSpc>
            </a:pPr>
            <a:r>
              <a:rPr sz="1600" b="1">
                <a:solidFill>
                  <a:srgbClr val="FFFFFF"/>
                </a:solidFill>
                <a:latin typeface="Segoe UI"/>
              </a:rPr>
              <a:t>sarabo-jahid.web.app</a:t>
            </a:r>
          </a:p>
          <a:p>
            <a:pPr algn="l">
              <a:lnSpc>
                <a:spcPct val="140000"/>
              </a:lnSpc>
            </a:pPr>
            <a:r>
              <a:rPr sz="1600" b="0">
                <a:solidFill>
                  <a:srgbClr val="C9D4D8"/>
                </a:solidFill>
                <a:latin typeface="Segoe UI"/>
              </a:rPr>
              <a:t>github.com/jahidjubaer/sarabo-client  ·  github.com/jahidjubaer/sarabo-server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